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6" r:id="rId5"/>
    <p:sldMasterId id="2147483672" r:id="rId6"/>
  </p:sldMasterIdLst>
  <p:notesMasterIdLst>
    <p:notesMasterId r:id="rId22"/>
  </p:notesMasterIdLst>
  <p:sldIdLst>
    <p:sldId id="256" r:id="rId7"/>
    <p:sldId id="257" r:id="rId8"/>
    <p:sldId id="281" r:id="rId9"/>
    <p:sldId id="277" r:id="rId10"/>
    <p:sldId id="1075" r:id="rId11"/>
    <p:sldId id="273" r:id="rId12"/>
    <p:sldId id="1080" r:id="rId13"/>
    <p:sldId id="1081" r:id="rId14"/>
    <p:sldId id="1082" r:id="rId15"/>
    <p:sldId id="1083" r:id="rId16"/>
    <p:sldId id="1084" r:id="rId17"/>
    <p:sldId id="1064" r:id="rId18"/>
    <p:sldId id="1073" r:id="rId19"/>
    <p:sldId id="287" r:id="rId20"/>
    <p:sldId id="1071" r:id="rId21"/>
  </p:sldIdLst>
  <p:sldSz cx="9906000" cy="6858000" type="A4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537"/>
    <a:srgbClr val="1F9323"/>
    <a:srgbClr val="BA2EFF"/>
    <a:srgbClr val="E6D123"/>
    <a:srgbClr val="E66FE1"/>
    <a:srgbClr val="008DD4"/>
    <a:srgbClr val="F6AE37"/>
    <a:srgbClr val="F8C166"/>
    <a:srgbClr val="F8BB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58"/>
  </p:normalViewPr>
  <p:slideViewPr>
    <p:cSldViewPr snapToGrid="0">
      <p:cViewPr varScale="1">
        <p:scale>
          <a:sx n="120" d="100"/>
          <a:sy n="120" d="100"/>
        </p:scale>
        <p:origin x="1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FB38E6-CEBA-2D46-BF28-591C4180745A}" type="doc">
      <dgm:prSet loTypeId="urn:microsoft.com/office/officeart/2005/8/layout/gear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41D2A4B1-CD3C-9A41-8A46-596C2F25CC6E}" type="pres">
      <dgm:prSet presAssocID="{3DFB38E6-CEBA-2D46-BF28-591C4180745A}" presName="composite" presStyleCnt="0">
        <dgm:presLayoutVars>
          <dgm:chMax val="3"/>
          <dgm:animLvl val="lvl"/>
          <dgm:resizeHandles val="exact"/>
        </dgm:presLayoutVars>
      </dgm:prSet>
      <dgm:spPr/>
    </dgm:pt>
  </dgm:ptLst>
  <dgm:cxnLst>
    <dgm:cxn modelId="{E4F158FE-ECC0-AB44-8B16-DE7D03D90856}" type="presOf" srcId="{3DFB38E6-CEBA-2D46-BF28-591C4180745A}" destId="{41D2A4B1-CD3C-9A41-8A46-596C2F25CC6E}" srcOrd="0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8" name="Shape 13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Arial"/>
      </a:defRPr>
    </a:lvl1pPr>
    <a:lvl2pPr indent="228600" latinLnBrk="0">
      <a:defRPr sz="1200">
        <a:latin typeface="+mn-lt"/>
        <a:ea typeface="+mn-ea"/>
        <a:cs typeface="+mn-cs"/>
        <a:sym typeface="Arial"/>
      </a:defRPr>
    </a:lvl2pPr>
    <a:lvl3pPr indent="457200" latinLnBrk="0">
      <a:defRPr sz="1200">
        <a:latin typeface="+mn-lt"/>
        <a:ea typeface="+mn-ea"/>
        <a:cs typeface="+mn-cs"/>
        <a:sym typeface="Arial"/>
      </a:defRPr>
    </a:lvl3pPr>
    <a:lvl4pPr indent="685800" latinLnBrk="0">
      <a:defRPr sz="1200">
        <a:latin typeface="+mn-lt"/>
        <a:ea typeface="+mn-ea"/>
        <a:cs typeface="+mn-cs"/>
        <a:sym typeface="Arial"/>
      </a:defRPr>
    </a:lvl4pPr>
    <a:lvl5pPr indent="914400" latinLnBrk="0">
      <a:defRPr sz="1200">
        <a:latin typeface="+mn-lt"/>
        <a:ea typeface="+mn-ea"/>
        <a:cs typeface="+mn-cs"/>
        <a:sym typeface="Arial"/>
      </a:defRPr>
    </a:lvl5pPr>
    <a:lvl6pPr indent="1143000" latinLnBrk="0">
      <a:defRPr sz="1200">
        <a:latin typeface="+mn-lt"/>
        <a:ea typeface="+mn-ea"/>
        <a:cs typeface="+mn-cs"/>
        <a:sym typeface="Arial"/>
      </a:defRPr>
    </a:lvl6pPr>
    <a:lvl7pPr indent="1371600" latinLnBrk="0">
      <a:defRPr sz="1200">
        <a:latin typeface="+mn-lt"/>
        <a:ea typeface="+mn-ea"/>
        <a:cs typeface="+mn-cs"/>
        <a:sym typeface="Arial"/>
      </a:defRPr>
    </a:lvl7pPr>
    <a:lvl8pPr indent="1600200" latinLnBrk="0">
      <a:defRPr sz="1200">
        <a:latin typeface="+mn-lt"/>
        <a:ea typeface="+mn-ea"/>
        <a:cs typeface="+mn-cs"/>
        <a:sym typeface="Arial"/>
      </a:defRPr>
    </a:lvl8pPr>
    <a:lvl9pPr indent="1828800" latinLnBrk="0">
      <a:defRPr sz="1200">
        <a:latin typeface="+mn-lt"/>
        <a:ea typeface="+mn-ea"/>
        <a:cs typeface="+mn-cs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99806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e du titre"/>
          <p:cNvSpPr txBox="1">
            <a:spLocks noGrp="1"/>
          </p:cNvSpPr>
          <p:nvPr>
            <p:ph type="title"/>
          </p:nvPr>
        </p:nvSpPr>
        <p:spPr>
          <a:xfrm>
            <a:off x="743040" y="1122480"/>
            <a:ext cx="8419680" cy="238716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r>
              <a:t>Texte du titre</a:t>
            </a:r>
          </a:p>
        </p:txBody>
      </p:sp>
      <p:sp>
        <p:nvSpPr>
          <p:cNvPr id="74" name="Texte niveau 1…"/>
          <p:cNvSpPr txBox="1">
            <a:spLocks noGrp="1"/>
          </p:cNvSpPr>
          <p:nvPr>
            <p:ph type="body" sz="half" idx="1"/>
          </p:nvPr>
        </p:nvSpPr>
        <p:spPr>
          <a:xfrm>
            <a:off x="495000" y="1604519"/>
            <a:ext cx="4350240" cy="397728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75" name="PlaceHolder 3"/>
          <p:cNvSpPr/>
          <p:nvPr/>
        </p:nvSpPr>
        <p:spPr>
          <a:xfrm>
            <a:off x="5063040" y="1604519"/>
            <a:ext cx="4350241" cy="189684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/>
          <a:p>
            <a:pPr marL="431999" indent="-323999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45000"/>
              <a:buChar char="●"/>
              <a:defRPr sz="2800" spc="-100">
                <a:uFill>
                  <a:solidFill>
                    <a:srgbClr val="FFFFFF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76" name="PlaceHolder 4"/>
          <p:cNvSpPr>
            <a:spLocks noGrp="1"/>
          </p:cNvSpPr>
          <p:nvPr>
            <p:ph type="body" sz="quarter" idx="13"/>
          </p:nvPr>
        </p:nvSpPr>
        <p:spPr>
          <a:xfrm>
            <a:off x="5063040" y="3682079"/>
            <a:ext cx="4350241" cy="189684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defRPr spc="-100"/>
            </a:pPr>
            <a:endParaRPr/>
          </a:p>
        </p:txBody>
      </p:sp>
      <p:sp>
        <p:nvSpPr>
          <p:cNvPr id="77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e du titre"/>
          <p:cNvSpPr txBox="1">
            <a:spLocks noGrp="1"/>
          </p:cNvSpPr>
          <p:nvPr>
            <p:ph type="title"/>
          </p:nvPr>
        </p:nvSpPr>
        <p:spPr>
          <a:xfrm>
            <a:off x="743040" y="1122480"/>
            <a:ext cx="8419680" cy="238716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r>
              <a:t>Texte du titre</a:t>
            </a:r>
          </a:p>
        </p:txBody>
      </p:sp>
      <p:sp>
        <p:nvSpPr>
          <p:cNvPr id="85" name="Texte niveau 1…"/>
          <p:cNvSpPr txBox="1">
            <a:spLocks noGrp="1"/>
          </p:cNvSpPr>
          <p:nvPr>
            <p:ph type="body" sz="quarter" idx="1"/>
          </p:nvPr>
        </p:nvSpPr>
        <p:spPr>
          <a:xfrm>
            <a:off x="495000" y="1604519"/>
            <a:ext cx="4350240" cy="189684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86" name="PlaceHolder 3"/>
          <p:cNvSpPr/>
          <p:nvPr/>
        </p:nvSpPr>
        <p:spPr>
          <a:xfrm>
            <a:off x="5063040" y="1604519"/>
            <a:ext cx="4350241" cy="189684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/>
          <a:p>
            <a:pPr marL="431999" indent="-323999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45000"/>
              <a:buChar char="●"/>
              <a:defRPr sz="2800" spc="-100">
                <a:uFill>
                  <a:solidFill>
                    <a:srgbClr val="FFFFFF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87" name="PlaceHolder 4"/>
          <p:cNvSpPr>
            <a:spLocks noGrp="1"/>
          </p:cNvSpPr>
          <p:nvPr>
            <p:ph type="body" sz="half" idx="13"/>
          </p:nvPr>
        </p:nvSpPr>
        <p:spPr>
          <a:xfrm>
            <a:off x="494999" y="3682079"/>
            <a:ext cx="8915042" cy="189684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defRPr spc="-100"/>
            </a:pPr>
            <a:endParaRPr/>
          </a:p>
        </p:txBody>
      </p:sp>
      <p:sp>
        <p:nvSpPr>
          <p:cNvPr id="88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e du titre"/>
          <p:cNvSpPr txBox="1">
            <a:spLocks noGrp="1"/>
          </p:cNvSpPr>
          <p:nvPr>
            <p:ph type="title"/>
          </p:nvPr>
        </p:nvSpPr>
        <p:spPr>
          <a:xfrm>
            <a:off x="743040" y="1122480"/>
            <a:ext cx="8419680" cy="238716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r>
              <a:t>Texte du titre</a:t>
            </a:r>
          </a:p>
        </p:txBody>
      </p:sp>
      <p:sp>
        <p:nvSpPr>
          <p:cNvPr id="96" name="Texte niveau 1…"/>
          <p:cNvSpPr txBox="1">
            <a:spLocks noGrp="1"/>
          </p:cNvSpPr>
          <p:nvPr>
            <p:ph type="body" sz="half" idx="1"/>
          </p:nvPr>
        </p:nvSpPr>
        <p:spPr>
          <a:xfrm>
            <a:off x="495000" y="1604519"/>
            <a:ext cx="8915041" cy="189684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97" name="PlaceHolder 3"/>
          <p:cNvSpPr>
            <a:spLocks noGrp="1"/>
          </p:cNvSpPr>
          <p:nvPr>
            <p:ph type="body" sz="half" idx="13"/>
          </p:nvPr>
        </p:nvSpPr>
        <p:spPr>
          <a:xfrm>
            <a:off x="494999" y="3682079"/>
            <a:ext cx="8915042" cy="189684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defRPr spc="-100"/>
            </a:pPr>
            <a:endParaRPr/>
          </a:p>
        </p:txBody>
      </p:sp>
      <p:sp>
        <p:nvSpPr>
          <p:cNvPr id="98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e du titre"/>
          <p:cNvSpPr txBox="1">
            <a:spLocks noGrp="1"/>
          </p:cNvSpPr>
          <p:nvPr>
            <p:ph type="title"/>
          </p:nvPr>
        </p:nvSpPr>
        <p:spPr>
          <a:xfrm>
            <a:off x="743040" y="1122480"/>
            <a:ext cx="8419680" cy="238716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r>
              <a:t>Texte du titre</a:t>
            </a:r>
          </a:p>
        </p:txBody>
      </p:sp>
      <p:sp>
        <p:nvSpPr>
          <p:cNvPr id="106" name="Texte niveau 1…"/>
          <p:cNvSpPr txBox="1">
            <a:spLocks noGrp="1"/>
          </p:cNvSpPr>
          <p:nvPr>
            <p:ph type="body" sz="quarter" idx="1"/>
          </p:nvPr>
        </p:nvSpPr>
        <p:spPr>
          <a:xfrm>
            <a:off x="495000" y="1604519"/>
            <a:ext cx="4350240" cy="189684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107" name="PlaceHolder 3"/>
          <p:cNvSpPr/>
          <p:nvPr/>
        </p:nvSpPr>
        <p:spPr>
          <a:xfrm>
            <a:off x="5063040" y="1604519"/>
            <a:ext cx="4350241" cy="189684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/>
          <a:p>
            <a:pPr marL="431999" indent="-323999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45000"/>
              <a:buChar char="●"/>
              <a:defRPr sz="2800" spc="-100">
                <a:uFill>
                  <a:solidFill>
                    <a:srgbClr val="FFFFFF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08" name="PlaceHolder 4"/>
          <p:cNvSpPr/>
          <p:nvPr/>
        </p:nvSpPr>
        <p:spPr>
          <a:xfrm>
            <a:off x="5063040" y="3682079"/>
            <a:ext cx="4350241" cy="189684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/>
          <a:p>
            <a:pPr marL="431999" indent="-323999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45000"/>
              <a:buChar char="●"/>
              <a:defRPr sz="2800" spc="-100">
                <a:uFill>
                  <a:solidFill>
                    <a:srgbClr val="FFFFFF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09" name="PlaceHolder 5"/>
          <p:cNvSpPr>
            <a:spLocks noGrp="1"/>
          </p:cNvSpPr>
          <p:nvPr>
            <p:ph type="body" sz="quarter" idx="13"/>
          </p:nvPr>
        </p:nvSpPr>
        <p:spPr>
          <a:xfrm>
            <a:off x="495000" y="3682079"/>
            <a:ext cx="4350240" cy="189684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defRPr spc="-100"/>
            </a:pPr>
            <a:endParaRPr/>
          </a:p>
        </p:txBody>
      </p:sp>
      <p:sp>
        <p:nvSpPr>
          <p:cNvPr id="110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e du titre"/>
          <p:cNvSpPr txBox="1">
            <a:spLocks noGrp="1"/>
          </p:cNvSpPr>
          <p:nvPr>
            <p:ph type="title"/>
          </p:nvPr>
        </p:nvSpPr>
        <p:spPr>
          <a:xfrm>
            <a:off x="743040" y="1122480"/>
            <a:ext cx="8419680" cy="238716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r>
              <a:t>Texte du titre</a:t>
            </a:r>
          </a:p>
        </p:txBody>
      </p:sp>
      <p:sp>
        <p:nvSpPr>
          <p:cNvPr id="118" name="Texte niveau 1…"/>
          <p:cNvSpPr txBox="1">
            <a:spLocks noGrp="1"/>
          </p:cNvSpPr>
          <p:nvPr>
            <p:ph type="body" idx="1"/>
          </p:nvPr>
        </p:nvSpPr>
        <p:spPr>
          <a:xfrm>
            <a:off x="495000" y="1604519"/>
            <a:ext cx="8915041" cy="397728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119" name="PlaceHolder 3"/>
          <p:cNvSpPr>
            <a:spLocks noGrp="1"/>
          </p:cNvSpPr>
          <p:nvPr>
            <p:ph type="body" idx="13"/>
          </p:nvPr>
        </p:nvSpPr>
        <p:spPr>
          <a:xfrm>
            <a:off x="494999" y="1604519"/>
            <a:ext cx="8915042" cy="397728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defRPr spc="-100"/>
            </a:pPr>
            <a:endParaRPr/>
          </a:p>
        </p:txBody>
      </p:sp>
      <p:pic>
        <p:nvPicPr>
          <p:cNvPr id="120" name="Image 36" descr="Image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880" y="1604519"/>
            <a:ext cx="4985280" cy="3977282"/>
          </a:xfrm>
          <a:prstGeom prst="rect">
            <a:avLst/>
          </a:prstGeom>
          <a:ln w="12700">
            <a:miter lim="400000"/>
          </a:ln>
        </p:spPr>
      </p:pic>
      <p:pic>
        <p:nvPicPr>
          <p:cNvPr id="121" name="Image 37" descr="Imag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880" y="1604519"/>
            <a:ext cx="4985280" cy="3977282"/>
          </a:xfrm>
          <a:prstGeom prst="rect">
            <a:avLst/>
          </a:prstGeom>
          <a:ln w="12700">
            <a:miter lim="400000"/>
          </a:ln>
        </p:spPr>
      </p:pic>
      <p:sp>
        <p:nvSpPr>
          <p:cNvPr id="122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e du titre"/>
          <p:cNvSpPr txBox="1">
            <a:spLocks noGrp="1"/>
          </p:cNvSpPr>
          <p:nvPr>
            <p:ph type="title"/>
          </p:nvPr>
        </p:nvSpPr>
        <p:spPr>
          <a:xfrm>
            <a:off x="742950" y="1122362"/>
            <a:ext cx="8420100" cy="238760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Texte du titre</a:t>
            </a:r>
          </a:p>
        </p:txBody>
      </p:sp>
      <p:sp>
        <p:nvSpPr>
          <p:cNvPr id="130" name="Texte niveau 1…"/>
          <p:cNvSpPr txBox="1">
            <a:spLocks noGrp="1"/>
          </p:cNvSpPr>
          <p:nvPr>
            <p:ph type="body" sz="quarter" idx="1"/>
          </p:nvPr>
        </p:nvSpPr>
        <p:spPr>
          <a:xfrm>
            <a:off x="1238250" y="3602037"/>
            <a:ext cx="7429500" cy="165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ClrTx/>
              <a:buSzTx/>
              <a:buNone/>
              <a:defRPr sz="2400"/>
            </a:lvl1pPr>
            <a:lvl2pPr marL="0" indent="457200" algn="ctr">
              <a:buClrTx/>
              <a:buSzTx/>
              <a:buNone/>
              <a:defRPr sz="2400"/>
            </a:lvl2pPr>
            <a:lvl3pPr marL="0" indent="914400" algn="ctr">
              <a:buClrTx/>
              <a:buSzTx/>
              <a:buNone/>
              <a:defRPr sz="2400"/>
            </a:lvl3pPr>
            <a:lvl4pPr marL="0" indent="1371600" algn="ctr">
              <a:buClrTx/>
              <a:buSzTx/>
              <a:buNone/>
              <a:defRPr sz="2400"/>
            </a:lvl4pPr>
            <a:lvl5pPr marL="0" indent="1828800" algn="ctr">
              <a:buClrTx/>
              <a:buSzTx/>
              <a:buNone/>
              <a:defRPr sz="2400"/>
            </a:lvl5pPr>
          </a:lstStyle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131" name="Numéro de diapositive"/>
          <p:cNvSpPr txBox="1">
            <a:spLocks noGrp="1"/>
          </p:cNvSpPr>
          <p:nvPr>
            <p:ph type="sldNum" sz="quarter" idx="2"/>
          </p:nvPr>
        </p:nvSpPr>
        <p:spPr>
          <a:xfrm>
            <a:off x="8960912" y="6404239"/>
            <a:ext cx="263729" cy="2692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uvertur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53783"/>
            <a:ext cx="3922776" cy="3795776"/>
          </a:xfrm>
          <a:prstGeom prst="rect">
            <a:avLst/>
          </a:prstGeom>
        </p:spPr>
      </p:pic>
      <p:pic>
        <p:nvPicPr>
          <p:cNvPr id="45" name="Image 44" descr="Une image contenant circuit&#10;&#10;Description générée automatiquement">
            <a:extLst>
              <a:ext uri="{FF2B5EF4-FFF2-40B4-BE49-F238E27FC236}">
                <a16:creationId xmlns:a16="http://schemas.microsoft.com/office/drawing/2014/main" id="{970E90FB-C1A8-E547-BA9B-21B6EF8144B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8" y="7215"/>
            <a:ext cx="1128183" cy="1727200"/>
          </a:xfrm>
          <a:prstGeom prst="rect">
            <a:avLst/>
          </a:prstGeom>
        </p:spPr>
      </p:pic>
      <p:sp>
        <p:nvSpPr>
          <p:cNvPr id="10" name="Ellipse 9">
            <a:extLst>
              <a:ext uri="{FF2B5EF4-FFF2-40B4-BE49-F238E27FC236}">
                <a16:creationId xmlns:a16="http://schemas.microsoft.com/office/drawing/2014/main" id="{08E248A7-0E84-4B46-8019-85B6395D8A6F}"/>
              </a:ext>
            </a:extLst>
          </p:cNvPr>
          <p:cNvSpPr/>
          <p:nvPr userDrawn="1"/>
        </p:nvSpPr>
        <p:spPr>
          <a:xfrm>
            <a:off x="8329707" y="621172"/>
            <a:ext cx="1110182" cy="136637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950"/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C65C93A9-5E73-0540-A597-805774E38F66}"/>
              </a:ext>
            </a:extLst>
          </p:cNvPr>
          <p:cNvSpPr txBox="1"/>
          <p:nvPr userDrawn="1"/>
        </p:nvSpPr>
        <p:spPr>
          <a:xfrm>
            <a:off x="2596244" y="5774454"/>
            <a:ext cx="184731" cy="3924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1950" dirty="0"/>
          </a:p>
        </p:txBody>
      </p:sp>
      <p:sp>
        <p:nvSpPr>
          <p:cNvPr id="21" name="Forme libre 20">
            <a:extLst>
              <a:ext uri="{FF2B5EF4-FFF2-40B4-BE49-F238E27FC236}">
                <a16:creationId xmlns:a16="http://schemas.microsoft.com/office/drawing/2014/main" id="{751A90F9-D90B-F94F-8608-CA069A96B475}"/>
              </a:ext>
            </a:extLst>
          </p:cNvPr>
          <p:cNvSpPr/>
          <p:nvPr userDrawn="1"/>
        </p:nvSpPr>
        <p:spPr>
          <a:xfrm>
            <a:off x="7124688" y="2"/>
            <a:ext cx="2057891" cy="1462161"/>
          </a:xfrm>
          <a:custGeom>
            <a:avLst/>
            <a:gdLst>
              <a:gd name="connsiteX0" fmla="*/ 12491 w 1899592"/>
              <a:gd name="connsiteY0" fmla="*/ 0 h 1096621"/>
              <a:gd name="connsiteX1" fmla="*/ 1887101 w 1899592"/>
              <a:gd name="connsiteY1" fmla="*/ 0 h 1096621"/>
              <a:gd name="connsiteX2" fmla="*/ 1894688 w 1899592"/>
              <a:gd name="connsiteY2" fmla="*/ 49714 h 1096621"/>
              <a:gd name="connsiteX3" fmla="*/ 1899592 w 1899592"/>
              <a:gd name="connsiteY3" fmla="*/ 146825 h 1096621"/>
              <a:gd name="connsiteX4" fmla="*/ 949796 w 1899592"/>
              <a:gd name="connsiteY4" fmla="*/ 1096621 h 1096621"/>
              <a:gd name="connsiteX5" fmla="*/ 0 w 1899592"/>
              <a:gd name="connsiteY5" fmla="*/ 146825 h 1096621"/>
              <a:gd name="connsiteX6" fmla="*/ 4904 w 1899592"/>
              <a:gd name="connsiteY6" fmla="*/ 49714 h 1096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9592" h="1096621">
                <a:moveTo>
                  <a:pt x="12491" y="0"/>
                </a:moveTo>
                <a:lnTo>
                  <a:pt x="1887101" y="0"/>
                </a:lnTo>
                <a:lnTo>
                  <a:pt x="1894688" y="49714"/>
                </a:lnTo>
                <a:cubicBezTo>
                  <a:pt x="1897931" y="81643"/>
                  <a:pt x="1899592" y="114040"/>
                  <a:pt x="1899592" y="146825"/>
                </a:cubicBezTo>
                <a:cubicBezTo>
                  <a:pt x="1899592" y="671383"/>
                  <a:pt x="1474354" y="1096621"/>
                  <a:pt x="949796" y="1096621"/>
                </a:cubicBezTo>
                <a:cubicBezTo>
                  <a:pt x="425238" y="1096621"/>
                  <a:pt x="0" y="671383"/>
                  <a:pt x="0" y="146825"/>
                </a:cubicBezTo>
                <a:cubicBezTo>
                  <a:pt x="0" y="114040"/>
                  <a:pt x="1661" y="81643"/>
                  <a:pt x="4904" y="4971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1950">
              <a:solidFill>
                <a:srgbClr val="008990"/>
              </a:solidFill>
            </a:endParaRP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8923092F-8BF6-F849-9134-060902A4CC01}"/>
              </a:ext>
            </a:extLst>
          </p:cNvPr>
          <p:cNvSpPr>
            <a:spLocks noChangeAspect="1"/>
          </p:cNvSpPr>
          <p:nvPr userDrawn="1"/>
        </p:nvSpPr>
        <p:spPr>
          <a:xfrm>
            <a:off x="8319277" y="603653"/>
            <a:ext cx="1155402" cy="1401412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30949" t="-226938" r="-191715" b="-9571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950"/>
          </a:p>
        </p:txBody>
      </p:sp>
      <p:pic>
        <p:nvPicPr>
          <p:cNvPr id="19" name="Image 18" descr="Une image contenant dessin&#10;&#10;Description générée automatiquement">
            <a:extLst>
              <a:ext uri="{FF2B5EF4-FFF2-40B4-BE49-F238E27FC236}">
                <a16:creationId xmlns:a16="http://schemas.microsoft.com/office/drawing/2014/main" id="{503BFB62-A710-E643-AA59-E12A33E041D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8558" y="5328862"/>
            <a:ext cx="3223049" cy="1258993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6F3F5AD1-66E9-0C4F-B0CA-787653AE7D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127" b="4292"/>
          <a:stretch/>
        </p:blipFill>
        <p:spPr>
          <a:xfrm>
            <a:off x="0" y="6199458"/>
            <a:ext cx="895587" cy="243100"/>
          </a:xfrm>
          <a:prstGeom prst="rect">
            <a:avLst/>
          </a:prstGeom>
        </p:spPr>
      </p:pic>
      <p:sp>
        <p:nvSpPr>
          <p:cNvPr id="25" name="Sous-titre 2">
            <a:extLst>
              <a:ext uri="{FF2B5EF4-FFF2-40B4-BE49-F238E27FC236}">
                <a16:creationId xmlns:a16="http://schemas.microsoft.com/office/drawing/2014/main" id="{B80E11F8-8CFB-A64F-A400-40FBAE23EDC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87420" y="3561646"/>
            <a:ext cx="4895159" cy="1258993"/>
          </a:xfrm>
        </p:spPr>
        <p:txBody>
          <a:bodyPr anchor="t">
            <a:normAutofit/>
          </a:bodyPr>
          <a:lstStyle>
            <a:lvl1pPr marL="0" indent="392100" algn="l" defTabSz="194331">
              <a:lnSpc>
                <a:spcPct val="85000"/>
              </a:lnSpc>
              <a:spcAft>
                <a:spcPts val="0"/>
              </a:spcAft>
              <a:buNone/>
              <a:tabLst/>
              <a:defRPr sz="3250" b="1" i="0" cap="all" baseline="0">
                <a:solidFill>
                  <a:srgbClr val="006A4E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  <a:lvl2pPr marL="495285" indent="0" algn="ctr">
              <a:buNone/>
              <a:defRPr sz="2167"/>
            </a:lvl2pPr>
            <a:lvl3pPr marL="990570" indent="0" algn="ctr">
              <a:buNone/>
              <a:defRPr sz="1950"/>
            </a:lvl3pPr>
            <a:lvl4pPr marL="1485854" indent="0" algn="ctr">
              <a:buNone/>
              <a:defRPr sz="1733"/>
            </a:lvl4pPr>
            <a:lvl5pPr marL="1981139" indent="0" algn="ctr">
              <a:buNone/>
              <a:defRPr sz="1733"/>
            </a:lvl5pPr>
            <a:lvl6pPr marL="2476424" indent="0" algn="ctr">
              <a:buNone/>
              <a:defRPr sz="1733"/>
            </a:lvl6pPr>
            <a:lvl7pPr marL="2971709" indent="0" algn="ctr">
              <a:buNone/>
              <a:defRPr sz="1733"/>
            </a:lvl7pPr>
            <a:lvl8pPr marL="3466993" indent="0" algn="ctr">
              <a:buNone/>
              <a:defRPr sz="1733"/>
            </a:lvl8pPr>
            <a:lvl9pPr marL="3962278" indent="0" algn="ctr">
              <a:buNone/>
              <a:defRPr sz="1733"/>
            </a:lvl9pPr>
          </a:lstStyle>
          <a:p>
            <a:r>
              <a:rPr lang="fr-FR" dirty="0"/>
              <a:t>sous-titre       sur une a trois lignes</a:t>
            </a:r>
          </a:p>
        </p:txBody>
      </p:sp>
      <p:sp>
        <p:nvSpPr>
          <p:cNvPr id="26" name="Titre 1">
            <a:extLst>
              <a:ext uri="{FF2B5EF4-FFF2-40B4-BE49-F238E27FC236}">
                <a16:creationId xmlns:a16="http://schemas.microsoft.com/office/drawing/2014/main" id="{3FF6F5C9-0ED5-1A4C-9E46-D428846741C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87420" y="1643937"/>
            <a:ext cx="4895159" cy="1950007"/>
          </a:xfrm>
        </p:spPr>
        <p:txBody>
          <a:bodyPr lIns="90000" tIns="46800" rIns="90000" bIns="46800" anchor="b">
            <a:normAutofit/>
          </a:bodyPr>
          <a:lstStyle>
            <a:lvl1pPr algn="l" defTabSz="389988">
              <a:lnSpc>
                <a:spcPct val="85000"/>
              </a:lnSpc>
              <a:tabLst/>
              <a:defRPr sz="3250" b="1" i="0" baseline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fr-FR" dirty="0"/>
              <a:t>TITRE DE LA PRÉSENTATION</a:t>
            </a:r>
          </a:p>
        </p:txBody>
      </p:sp>
      <p:sp>
        <p:nvSpPr>
          <p:cNvPr id="15" name="Espace réservé du texte 2">
            <a:extLst>
              <a:ext uri="{FF2B5EF4-FFF2-40B4-BE49-F238E27FC236}">
                <a16:creationId xmlns:a16="http://schemas.microsoft.com/office/drawing/2014/main" id="{8C833347-679C-2348-8269-894BB740114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4807" y="6199458"/>
            <a:ext cx="4208550" cy="243100"/>
          </a:xfrm>
        </p:spPr>
        <p:txBody>
          <a:bodyPr lIns="36000" tIns="0" rIns="3600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975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/>
              <a:t>Nom / fonction</a:t>
            </a:r>
          </a:p>
        </p:txBody>
      </p:sp>
      <p:pic>
        <p:nvPicPr>
          <p:cNvPr id="18" name="Image 17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031" y="621171"/>
            <a:ext cx="1290170" cy="79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843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ercalair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0C31F27-AFD4-405D-8408-3DD324754BF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749399" y="6217851"/>
            <a:ext cx="349901" cy="276999"/>
          </a:xfrm>
        </p:spPr>
        <p:txBody>
          <a:bodyPr/>
          <a:lstStyle/>
          <a:p>
            <a:fld id="{F0D01662-DE55-4BD0-BAA3-5B2B2960751D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6ACD0887-2D23-EC4B-831F-EBC92A5F71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87105" y="2321571"/>
            <a:ext cx="3995474" cy="574287"/>
          </a:xfrm>
        </p:spPr>
        <p:txBody>
          <a:bodyPr lIns="0" tIns="0" rIns="0" bIns="0" anchor="b">
            <a:noAutofit/>
          </a:bodyPr>
          <a:lstStyle>
            <a:lvl1pPr algn="l" defTabSz="389988">
              <a:lnSpc>
                <a:spcPct val="85000"/>
              </a:lnSpc>
              <a:tabLst/>
              <a:defRPr sz="3250" b="1" i="0" baseline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fr-FR" dirty="0"/>
              <a:t>CHAPITRE 1</a:t>
            </a:r>
          </a:p>
        </p:txBody>
      </p:sp>
      <p:sp>
        <p:nvSpPr>
          <p:cNvPr id="14" name="Sous-titre 2">
            <a:extLst>
              <a:ext uri="{FF2B5EF4-FFF2-40B4-BE49-F238E27FC236}">
                <a16:creationId xmlns:a16="http://schemas.microsoft.com/office/drawing/2014/main" id="{66BE7B2A-1931-6E46-8117-021E61B841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29226" y="2895858"/>
            <a:ext cx="5078194" cy="469132"/>
          </a:xfrm>
        </p:spPr>
        <p:txBody>
          <a:bodyPr lIns="0" tIns="0" rIns="0" bIns="0" anchor="t">
            <a:noAutofit/>
          </a:bodyPr>
          <a:lstStyle>
            <a:lvl1pPr marL="0" indent="0" algn="l" defTabSz="389988">
              <a:lnSpc>
                <a:spcPct val="85000"/>
              </a:lnSpc>
              <a:spcAft>
                <a:spcPts val="0"/>
              </a:spcAft>
              <a:buNone/>
              <a:tabLst/>
              <a:defRPr sz="3250" b="1" i="0" cap="all" baseline="0">
                <a:solidFill>
                  <a:srgbClr val="006A4E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  <a:lvl2pPr marL="495285" indent="0" algn="ctr">
              <a:buNone/>
              <a:defRPr sz="2167"/>
            </a:lvl2pPr>
            <a:lvl3pPr marL="990570" indent="0" algn="ctr">
              <a:buNone/>
              <a:defRPr sz="1950"/>
            </a:lvl3pPr>
            <a:lvl4pPr marL="1485854" indent="0" algn="ctr">
              <a:buNone/>
              <a:defRPr sz="1733"/>
            </a:lvl4pPr>
            <a:lvl5pPr marL="1981139" indent="0" algn="ctr">
              <a:buNone/>
              <a:defRPr sz="1733"/>
            </a:lvl5pPr>
            <a:lvl6pPr marL="2476424" indent="0" algn="ctr">
              <a:buNone/>
              <a:defRPr sz="1733"/>
            </a:lvl6pPr>
            <a:lvl7pPr marL="2971709" indent="0" algn="ctr">
              <a:buNone/>
              <a:defRPr sz="1733"/>
            </a:lvl7pPr>
            <a:lvl8pPr marL="3466993" indent="0" algn="ctr">
              <a:buNone/>
              <a:defRPr sz="1733"/>
            </a:lvl8pPr>
            <a:lvl9pPr marL="3962278" indent="0" algn="ctr">
              <a:buNone/>
              <a:defRPr sz="1733"/>
            </a:lvl9pPr>
          </a:lstStyle>
          <a:p>
            <a:r>
              <a:rPr lang="fr-FR" dirty="0">
                <a:solidFill>
                  <a:srgbClr val="006A4E"/>
                </a:solidFill>
              </a:rPr>
              <a:t> TITRE DU CHAPITRE SUR une A trois LIGNES</a:t>
            </a:r>
            <a:endParaRPr lang="fr-FR" dirty="0"/>
          </a:p>
        </p:txBody>
      </p:sp>
      <p:sp>
        <p:nvSpPr>
          <p:cNvPr id="15" name="Forme libre 14">
            <a:extLst>
              <a:ext uri="{FF2B5EF4-FFF2-40B4-BE49-F238E27FC236}">
                <a16:creationId xmlns:a16="http://schemas.microsoft.com/office/drawing/2014/main" id="{F6465EF5-B4D9-EB45-A57D-B996B23A9D44}"/>
              </a:ext>
            </a:extLst>
          </p:cNvPr>
          <p:cNvSpPr/>
          <p:nvPr userDrawn="1"/>
        </p:nvSpPr>
        <p:spPr>
          <a:xfrm>
            <a:off x="7124688" y="2"/>
            <a:ext cx="2057891" cy="1462161"/>
          </a:xfrm>
          <a:custGeom>
            <a:avLst/>
            <a:gdLst>
              <a:gd name="connsiteX0" fmla="*/ 12491 w 1899592"/>
              <a:gd name="connsiteY0" fmla="*/ 0 h 1096621"/>
              <a:gd name="connsiteX1" fmla="*/ 1887101 w 1899592"/>
              <a:gd name="connsiteY1" fmla="*/ 0 h 1096621"/>
              <a:gd name="connsiteX2" fmla="*/ 1894688 w 1899592"/>
              <a:gd name="connsiteY2" fmla="*/ 49714 h 1096621"/>
              <a:gd name="connsiteX3" fmla="*/ 1899592 w 1899592"/>
              <a:gd name="connsiteY3" fmla="*/ 146825 h 1096621"/>
              <a:gd name="connsiteX4" fmla="*/ 949796 w 1899592"/>
              <a:gd name="connsiteY4" fmla="*/ 1096621 h 1096621"/>
              <a:gd name="connsiteX5" fmla="*/ 0 w 1899592"/>
              <a:gd name="connsiteY5" fmla="*/ 146825 h 1096621"/>
              <a:gd name="connsiteX6" fmla="*/ 4904 w 1899592"/>
              <a:gd name="connsiteY6" fmla="*/ 49714 h 1096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9592" h="1096621">
                <a:moveTo>
                  <a:pt x="12491" y="0"/>
                </a:moveTo>
                <a:lnTo>
                  <a:pt x="1887101" y="0"/>
                </a:lnTo>
                <a:lnTo>
                  <a:pt x="1894688" y="49714"/>
                </a:lnTo>
                <a:cubicBezTo>
                  <a:pt x="1897931" y="81643"/>
                  <a:pt x="1899592" y="114040"/>
                  <a:pt x="1899592" y="146825"/>
                </a:cubicBezTo>
                <a:cubicBezTo>
                  <a:pt x="1899592" y="671383"/>
                  <a:pt x="1474354" y="1096621"/>
                  <a:pt x="949796" y="1096621"/>
                </a:cubicBezTo>
                <a:cubicBezTo>
                  <a:pt x="425238" y="1096621"/>
                  <a:pt x="0" y="671383"/>
                  <a:pt x="0" y="146825"/>
                </a:cubicBezTo>
                <a:cubicBezTo>
                  <a:pt x="0" y="114040"/>
                  <a:pt x="1661" y="81643"/>
                  <a:pt x="4904" y="4971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1950">
              <a:solidFill>
                <a:srgbClr val="008990"/>
              </a:solidFill>
            </a:endParaRP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FE673AAA-EAC6-C04E-B015-CEBF16699DA0}"/>
              </a:ext>
            </a:extLst>
          </p:cNvPr>
          <p:cNvSpPr>
            <a:spLocks noChangeAspect="1"/>
          </p:cNvSpPr>
          <p:nvPr userDrawn="1"/>
        </p:nvSpPr>
        <p:spPr>
          <a:xfrm>
            <a:off x="8319277" y="603653"/>
            <a:ext cx="1155402" cy="1401412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30949" t="-226938" r="-191715" b="-9571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950"/>
          </a:p>
        </p:txBody>
      </p:sp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6EFA85D8-7444-864F-A661-DA27CDD0AE11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0" y="603653"/>
            <a:ext cx="4052893" cy="4714988"/>
          </a:xfrm>
          <a:custGeom>
            <a:avLst/>
            <a:gdLst>
              <a:gd name="connsiteX0" fmla="*/ 0 w 3741132"/>
              <a:gd name="connsiteY0" fmla="*/ 0 h 3536241"/>
              <a:gd name="connsiteX1" fmla="*/ 3151747 w 3741132"/>
              <a:gd name="connsiteY1" fmla="*/ 0 h 3536241"/>
              <a:gd name="connsiteX2" fmla="*/ 3741132 w 3741132"/>
              <a:gd name="connsiteY2" fmla="*/ 589385 h 3536241"/>
              <a:gd name="connsiteX3" fmla="*/ 3741132 w 3741132"/>
              <a:gd name="connsiteY3" fmla="*/ 2946856 h 3536241"/>
              <a:gd name="connsiteX4" fmla="*/ 3151747 w 3741132"/>
              <a:gd name="connsiteY4" fmla="*/ 3536241 h 3536241"/>
              <a:gd name="connsiteX5" fmla="*/ 0 w 3741132"/>
              <a:gd name="connsiteY5" fmla="*/ 3536241 h 3536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41132" h="3536241">
                <a:moveTo>
                  <a:pt x="0" y="0"/>
                </a:moveTo>
                <a:lnTo>
                  <a:pt x="3151747" y="0"/>
                </a:lnTo>
                <a:cubicBezTo>
                  <a:pt x="3477255" y="0"/>
                  <a:pt x="3741132" y="263877"/>
                  <a:pt x="3741132" y="589385"/>
                </a:cubicBezTo>
                <a:lnTo>
                  <a:pt x="3741132" y="2946856"/>
                </a:lnTo>
                <a:cubicBezTo>
                  <a:pt x="3741132" y="3272364"/>
                  <a:pt x="3477255" y="3536241"/>
                  <a:pt x="3151747" y="3536241"/>
                </a:cubicBezTo>
                <a:lnTo>
                  <a:pt x="0" y="3536241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8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332027" y="6403136"/>
            <a:ext cx="1241946" cy="2227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8" b="1" i="1">
                <a:solidFill>
                  <a:srgbClr val="009597"/>
                </a:solidFill>
              </a:defRPr>
            </a:lvl1pPr>
          </a:lstStyle>
          <a:p>
            <a:fld id="{709C22FE-CA96-4781-A86A-F2EF5EBFC076}" type="datetime1">
              <a:rPr lang="fr-FR" smtClean="0"/>
              <a:t>30/11/2025</a:t>
            </a:fld>
            <a:endParaRPr lang="fr-FR" dirty="0"/>
          </a:p>
        </p:txBody>
      </p:sp>
      <p:sp>
        <p:nvSpPr>
          <p:cNvPr id="10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900742" y="6403137"/>
            <a:ext cx="3343275" cy="2227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21" i="1">
                <a:solidFill>
                  <a:srgbClr val="7E93A7"/>
                </a:solidFill>
              </a:defRPr>
            </a:lvl1pPr>
          </a:lstStyle>
          <a:p>
            <a:r>
              <a:rPr lang="fr-FR"/>
              <a:t>Point activité Aquatec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68240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+ 2 col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0"/>
          </p:nvPr>
        </p:nvSpPr>
        <p:spPr>
          <a:xfrm>
            <a:off x="6749399" y="6217851"/>
            <a:ext cx="349901" cy="276999"/>
          </a:xfrm>
        </p:spPr>
        <p:txBody>
          <a:bodyPr/>
          <a:lstStyle/>
          <a:p>
            <a:fld id="{F0D01662-DE55-4BD0-BAA3-5B2B2960751D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0" name="Espace réservé du texte 4">
            <a:extLst>
              <a:ext uri="{FF2B5EF4-FFF2-40B4-BE49-F238E27FC236}">
                <a16:creationId xmlns:a16="http://schemas.microsoft.com/office/drawing/2014/main" id="{345DC6C0-8AB4-48A9-B80A-9D718564C8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4704" y="1920000"/>
            <a:ext cx="4090900" cy="3656848"/>
          </a:xfrm>
        </p:spPr>
        <p:txBody>
          <a:bodyPr lIns="36000" tIns="36000" rIns="36000" bIns="36000"/>
          <a:lstStyle>
            <a:lvl1pPr>
              <a:defRPr/>
            </a:lvl1pPr>
          </a:lstStyle>
          <a:p>
            <a:pPr lvl="0"/>
            <a:r>
              <a:rPr lang="fr-FR" dirty="0"/>
              <a:t>Paragraphe de niveau 1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13" name="Espace réservé du texte 4">
            <a:extLst>
              <a:ext uri="{FF2B5EF4-FFF2-40B4-BE49-F238E27FC236}">
                <a16:creationId xmlns:a16="http://schemas.microsoft.com/office/drawing/2014/main" id="{E62F563F-D583-49C6-A177-B6AE3933A70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0000" y="1920000"/>
            <a:ext cx="4091100" cy="3656848"/>
          </a:xfrm>
        </p:spPr>
        <p:txBody>
          <a:bodyPr lIns="36000" tIns="36000" rIns="36000" bIns="36000"/>
          <a:lstStyle>
            <a:lvl1pPr>
              <a:defRPr/>
            </a:lvl1pPr>
          </a:lstStyle>
          <a:p>
            <a:pPr lvl="0"/>
            <a:r>
              <a:rPr lang="fr-FR" dirty="0"/>
              <a:t>Paragraphe de niveau 1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1512263D-0388-614B-8819-2B50EC7C54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8866" y="676002"/>
            <a:ext cx="8717866" cy="843311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/>
              <a:t>Titre de la page sur une ligne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C5BEA4-181E-9148-AA1E-8207B1CCE50B}"/>
              </a:ext>
            </a:extLst>
          </p:cNvPr>
          <p:cNvSpPr/>
          <p:nvPr userDrawn="1"/>
        </p:nvSpPr>
        <p:spPr>
          <a:xfrm>
            <a:off x="1" y="275560"/>
            <a:ext cx="2110113" cy="2691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950" dirty="0"/>
          </a:p>
        </p:txBody>
      </p:sp>
      <p:sp>
        <p:nvSpPr>
          <p:cNvPr id="16" name="Espace réservé du texte 7">
            <a:extLst>
              <a:ext uri="{FF2B5EF4-FFF2-40B4-BE49-F238E27FC236}">
                <a16:creationId xmlns:a16="http://schemas.microsoft.com/office/drawing/2014/main" id="{2BEF3247-1AD2-DD46-9C46-982975C9888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343" y="275560"/>
            <a:ext cx="1997771" cy="269123"/>
          </a:xfrm>
        </p:spPr>
        <p:txBody>
          <a:bodyPr anchor="ctr" anchorCtr="0">
            <a:noAutofit/>
          </a:bodyPr>
          <a:lstStyle>
            <a:lvl1pPr marL="0" indent="0" algn="l" defTabSz="3119904">
              <a:buFontTx/>
              <a:buNone/>
              <a:tabLst>
                <a:tab pos="3119904" algn="r"/>
              </a:tabLst>
              <a:defRPr sz="867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RAPPEL DU TITRE DU CHAPITRE</a:t>
            </a:r>
          </a:p>
        </p:txBody>
      </p:sp>
      <p:sp>
        <p:nvSpPr>
          <p:cNvPr id="8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332027" y="6403136"/>
            <a:ext cx="1241946" cy="2227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8" b="1" i="1">
                <a:solidFill>
                  <a:srgbClr val="009597"/>
                </a:solidFill>
              </a:defRPr>
            </a:lvl1pPr>
          </a:lstStyle>
          <a:p>
            <a:fld id="{3D62D51E-4E5B-434C-83FE-32EB7892CB8F}" type="datetime1">
              <a:rPr lang="fr-FR" smtClean="0"/>
              <a:t>30/11/2025</a:t>
            </a:fld>
            <a:endParaRPr lang="fr-FR" dirty="0"/>
          </a:p>
        </p:txBody>
      </p:sp>
      <p:sp>
        <p:nvSpPr>
          <p:cNvPr id="9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900742" y="6403137"/>
            <a:ext cx="3343275" cy="2227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21" i="1">
                <a:solidFill>
                  <a:srgbClr val="7E93A7"/>
                </a:solidFill>
              </a:defRPr>
            </a:lvl1pPr>
          </a:lstStyle>
          <a:p>
            <a:r>
              <a:rPr lang="fr-FR"/>
              <a:t>Point activité Aquatec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56130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42950" y="2125980"/>
            <a:ext cx="84201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85900" y="3840480"/>
            <a:ext cx="69342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723058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006516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58200" y="6164059"/>
            <a:ext cx="1327150" cy="540397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-4561" y="605028"/>
            <a:ext cx="0" cy="48260"/>
          </a:xfrm>
          <a:custGeom>
            <a:avLst/>
            <a:gdLst/>
            <a:ahLst/>
            <a:cxnLst/>
            <a:rect l="l" t="t" r="r" b="b"/>
            <a:pathLst>
              <a:path h="48259">
                <a:moveTo>
                  <a:pt x="0" y="0"/>
                </a:moveTo>
                <a:lnTo>
                  <a:pt x="0" y="48006"/>
                </a:lnTo>
              </a:path>
            </a:pathLst>
          </a:custGeom>
          <a:ln w="21358">
            <a:solidFill>
              <a:srgbClr val="5B9BD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117" y="23317"/>
            <a:ext cx="9900285" cy="802640"/>
          </a:xfrm>
          <a:custGeom>
            <a:avLst/>
            <a:gdLst/>
            <a:ahLst/>
            <a:cxnLst/>
            <a:rect l="l" t="t" r="r" b="b"/>
            <a:pathLst>
              <a:path w="9900285" h="802640">
                <a:moveTo>
                  <a:pt x="9899904" y="0"/>
                </a:moveTo>
                <a:lnTo>
                  <a:pt x="0" y="0"/>
                </a:lnTo>
                <a:lnTo>
                  <a:pt x="0" y="802436"/>
                </a:lnTo>
                <a:lnTo>
                  <a:pt x="9899904" y="802436"/>
                </a:lnTo>
                <a:lnTo>
                  <a:pt x="9899904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6117" y="23317"/>
            <a:ext cx="9900285" cy="802640"/>
          </a:xfrm>
          <a:custGeom>
            <a:avLst/>
            <a:gdLst/>
            <a:ahLst/>
            <a:cxnLst/>
            <a:rect l="l" t="t" r="r" b="b"/>
            <a:pathLst>
              <a:path w="9900285" h="802640">
                <a:moveTo>
                  <a:pt x="0" y="802436"/>
                </a:moveTo>
                <a:lnTo>
                  <a:pt x="9899904" y="802436"/>
                </a:lnTo>
                <a:lnTo>
                  <a:pt x="9899904" y="0"/>
                </a:lnTo>
                <a:lnTo>
                  <a:pt x="0" y="0"/>
                </a:lnTo>
                <a:lnTo>
                  <a:pt x="0" y="802436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9530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0159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720700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984799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909946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21480-109F-40EA-8A90-C1F549EBC457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6BF35-393F-4F3D-A0F7-37E0F3D0A0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95925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21480-109F-40EA-8A90-C1F549EBC457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6BF35-393F-4F3D-A0F7-37E0F3D0A0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89889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8" y="1709739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82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82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82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21480-109F-40EA-8A90-C1F549EBC457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6BF35-393F-4F3D-A0F7-37E0F3D0A0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37797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21480-109F-40EA-8A90-C1F549EBC457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6BF35-393F-4F3D-A0F7-37E0F3D0A0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93770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21480-109F-40EA-8A90-C1F549EBC457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6BF35-393F-4F3D-A0F7-37E0F3D0A0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40009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21480-109F-40EA-8A90-C1F549EBC457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6BF35-393F-4F3D-A0F7-37E0F3D0A0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63715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21480-109F-40EA-8A90-C1F549EBC457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6BF35-393F-4F3D-A0F7-37E0F3D0A0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29218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21480-109F-40EA-8A90-C1F549EBC457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6BF35-393F-4F3D-A0F7-37E0F3D0A0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07521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 anchor="t"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21480-109F-40EA-8A90-C1F549EBC457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6BF35-393F-4F3D-A0F7-37E0F3D0A0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28674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21480-109F-40EA-8A90-C1F549EBC457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6BF35-393F-4F3D-A0F7-37E0F3D0A0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22930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21480-109F-40EA-8A90-C1F549EBC457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6BF35-393F-4F3D-A0F7-37E0F3D0A0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1914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e du titre"/>
          <p:cNvSpPr txBox="1">
            <a:spLocks noGrp="1"/>
          </p:cNvSpPr>
          <p:nvPr>
            <p:ph type="title"/>
          </p:nvPr>
        </p:nvSpPr>
        <p:spPr>
          <a:xfrm>
            <a:off x="495300" y="0"/>
            <a:ext cx="8915400" cy="14176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b"/>
          <a:lstStyle/>
          <a:p>
            <a:r>
              <a:t>Texte du titre</a:t>
            </a:r>
          </a:p>
        </p:txBody>
      </p:sp>
      <p:sp>
        <p:nvSpPr>
          <p:cNvPr id="3" name="Texte niveau 1…"/>
          <p:cNvSpPr txBox="1">
            <a:spLocks noGrp="1"/>
          </p:cNvSpPr>
          <p:nvPr>
            <p:ph type="body" idx="1"/>
          </p:nvPr>
        </p:nvSpPr>
        <p:spPr>
          <a:xfrm>
            <a:off x="495300" y="1600200"/>
            <a:ext cx="89154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/>
          <a:lstStyle/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4" name="Numéro de diapositive"/>
          <p:cNvSpPr txBox="1">
            <a:spLocks noGrp="1"/>
          </p:cNvSpPr>
          <p:nvPr>
            <p:ph type="sldNum" sz="quarter" idx="2"/>
          </p:nvPr>
        </p:nvSpPr>
        <p:spPr>
          <a:xfrm>
            <a:off x="4787900" y="6172200"/>
            <a:ext cx="23114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1" baseline="0">
          <a:ln>
            <a:noFill/>
          </a:ln>
          <a:solidFill>
            <a:srgbClr val="000000"/>
          </a:solidFill>
          <a:uFill>
            <a:solidFill>
              <a:srgbClr val="FFFFFF"/>
            </a:solidFill>
          </a:uFill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1" baseline="0">
          <a:ln>
            <a:noFill/>
          </a:ln>
          <a:solidFill>
            <a:srgbClr val="000000"/>
          </a:solidFill>
          <a:uFill>
            <a:solidFill>
              <a:srgbClr val="FFFFFF"/>
            </a:solidFill>
          </a:uFill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1" baseline="0">
          <a:ln>
            <a:noFill/>
          </a:ln>
          <a:solidFill>
            <a:srgbClr val="000000"/>
          </a:solidFill>
          <a:uFill>
            <a:solidFill>
              <a:srgbClr val="FFFFFF"/>
            </a:solidFill>
          </a:uFill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1" baseline="0">
          <a:ln>
            <a:noFill/>
          </a:ln>
          <a:solidFill>
            <a:srgbClr val="000000"/>
          </a:solidFill>
          <a:uFill>
            <a:solidFill>
              <a:srgbClr val="FFFFFF"/>
            </a:solidFill>
          </a:uFill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1" baseline="0">
          <a:ln>
            <a:noFill/>
          </a:ln>
          <a:solidFill>
            <a:srgbClr val="000000"/>
          </a:solidFill>
          <a:uFill>
            <a:solidFill>
              <a:srgbClr val="FFFFFF"/>
            </a:solidFill>
          </a:uFill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1" baseline="0">
          <a:ln>
            <a:noFill/>
          </a:ln>
          <a:solidFill>
            <a:srgbClr val="000000"/>
          </a:solidFill>
          <a:uFill>
            <a:solidFill>
              <a:srgbClr val="FFFFFF"/>
            </a:solidFill>
          </a:uFill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1" baseline="0">
          <a:ln>
            <a:noFill/>
          </a:ln>
          <a:solidFill>
            <a:srgbClr val="000000"/>
          </a:solidFill>
          <a:uFill>
            <a:solidFill>
              <a:srgbClr val="FFFFFF"/>
            </a:solidFill>
          </a:uFill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1" baseline="0">
          <a:ln>
            <a:noFill/>
          </a:ln>
          <a:solidFill>
            <a:srgbClr val="000000"/>
          </a:solidFill>
          <a:uFill>
            <a:solidFill>
              <a:srgbClr val="FFFFFF"/>
            </a:solidFill>
          </a:uFill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1" baseline="0">
          <a:ln>
            <a:noFill/>
          </a:ln>
          <a:solidFill>
            <a:srgbClr val="000000"/>
          </a:solidFill>
          <a:uFill>
            <a:solidFill>
              <a:srgbClr val="FFFFFF"/>
            </a:solidFill>
          </a:uFill>
          <a:latin typeface="Calibri Light"/>
          <a:ea typeface="Calibri Light"/>
          <a:cs typeface="Calibri Light"/>
          <a:sym typeface="Calibri Light"/>
        </a:defRPr>
      </a:lvl9pPr>
    </p:titleStyle>
    <p:bodyStyle>
      <a:lvl1pPr marL="431999" marR="0" indent="-32399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ct val="45000"/>
        <a:buFontTx/>
        <a:buChar char="●"/>
        <a:tabLst/>
        <a:defRPr sz="2800" b="0" i="0" u="none" strike="noStrike" cap="none" spc="-1" baseline="0">
          <a:ln>
            <a:noFill/>
          </a:ln>
          <a:solidFill>
            <a:srgbClr val="000000"/>
          </a:solidFill>
          <a:uFill>
            <a:solidFill>
              <a:srgbClr val="FFFFFF"/>
            </a:solidFill>
          </a:uFill>
          <a:latin typeface="Calibri"/>
          <a:ea typeface="Calibri"/>
          <a:cs typeface="Calibri"/>
          <a:sym typeface="Calibri"/>
        </a:defRPr>
      </a:lvl1pPr>
      <a:lvl2pPr marL="993600" marR="0" indent="-453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ct val="75000"/>
        <a:buFontTx/>
        <a:buChar char="−"/>
        <a:tabLst/>
        <a:defRPr sz="2800" b="0" i="0" u="none" strike="noStrike" cap="none" spc="-1" baseline="0">
          <a:ln>
            <a:noFill/>
          </a:ln>
          <a:solidFill>
            <a:srgbClr val="000000"/>
          </a:solidFill>
          <a:uFill>
            <a:solidFill>
              <a:srgbClr val="FFFFFF"/>
            </a:solidFill>
          </a:uFill>
          <a:latin typeface="Calibri"/>
          <a:ea typeface="Calibri"/>
          <a:cs typeface="Calibri"/>
          <a:sym typeface="Calibri"/>
        </a:defRPr>
      </a:lvl2pPr>
      <a:lvl3pPr marL="1455999" marR="0" indent="-4480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ct val="45000"/>
        <a:buFontTx/>
        <a:buChar char="●"/>
        <a:tabLst/>
        <a:defRPr sz="2800" b="0" i="0" u="none" strike="noStrike" cap="none" spc="-1" baseline="0">
          <a:ln>
            <a:noFill/>
          </a:ln>
          <a:solidFill>
            <a:srgbClr val="000000"/>
          </a:solidFill>
          <a:uFill>
            <a:solidFill>
              <a:srgbClr val="FFFFFF"/>
            </a:solidFill>
          </a:uFill>
          <a:latin typeface="Calibri"/>
          <a:ea typeface="Calibri"/>
          <a:cs typeface="Calibri"/>
          <a:sym typeface="Calibri"/>
        </a:defRPr>
      </a:lvl3pPr>
      <a:lvl4pPr marL="1847999" marR="0" indent="-3360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ct val="75000"/>
        <a:buFontTx/>
        <a:buChar char="−"/>
        <a:tabLst/>
        <a:defRPr sz="2800" b="0" i="0" u="none" strike="noStrike" cap="none" spc="-1" baseline="0">
          <a:ln>
            <a:noFill/>
          </a:ln>
          <a:solidFill>
            <a:srgbClr val="000000"/>
          </a:solidFill>
          <a:uFill>
            <a:solidFill>
              <a:srgbClr val="FFFFFF"/>
            </a:solidFill>
          </a:uFill>
          <a:latin typeface="Calibri"/>
          <a:ea typeface="Calibri"/>
          <a:cs typeface="Calibri"/>
          <a:sym typeface="Calibri"/>
        </a:defRPr>
      </a:lvl4pPr>
      <a:lvl5pPr marL="2246399" marR="0" indent="-30239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ct val="45000"/>
        <a:buFontTx/>
        <a:buChar char="●"/>
        <a:tabLst/>
        <a:defRPr sz="2800" b="0" i="0" u="none" strike="noStrike" cap="none" spc="-1" baseline="0">
          <a:ln>
            <a:noFill/>
          </a:ln>
          <a:solidFill>
            <a:srgbClr val="000000"/>
          </a:solidFill>
          <a:uFill>
            <a:solidFill>
              <a:srgbClr val="FFFFFF"/>
            </a:solidFill>
          </a:uFill>
          <a:latin typeface="Calibri"/>
          <a:ea typeface="Calibri"/>
          <a:cs typeface="Calibri"/>
          <a:sym typeface="Calibri"/>
        </a:defRPr>
      </a:lvl5pPr>
      <a:lvl6pPr marL="2678399" marR="0" indent="-30239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ct val="45000"/>
        <a:buFontTx/>
        <a:buChar char="●"/>
        <a:tabLst/>
        <a:defRPr sz="2800" b="0" i="0" u="none" strike="noStrike" cap="none" spc="-1" baseline="0">
          <a:ln>
            <a:noFill/>
          </a:ln>
          <a:solidFill>
            <a:srgbClr val="000000"/>
          </a:solidFill>
          <a:uFill>
            <a:solidFill>
              <a:srgbClr val="FFFFFF"/>
            </a:solidFill>
          </a:uFill>
          <a:latin typeface="Calibri"/>
          <a:ea typeface="Calibri"/>
          <a:cs typeface="Calibri"/>
          <a:sym typeface="Calibri"/>
        </a:defRPr>
      </a:lvl6pPr>
      <a:lvl7pPr marL="3110399" marR="0" indent="-30239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ct val="45000"/>
        <a:buFontTx/>
        <a:buChar char="●"/>
        <a:tabLst/>
        <a:defRPr sz="2800" b="0" i="0" u="none" strike="noStrike" cap="none" spc="-1" baseline="0">
          <a:ln>
            <a:noFill/>
          </a:ln>
          <a:solidFill>
            <a:srgbClr val="000000"/>
          </a:solidFill>
          <a:uFill>
            <a:solidFill>
              <a:srgbClr val="FFFFFF"/>
            </a:solidFill>
          </a:uFill>
          <a:latin typeface="Calibri"/>
          <a:ea typeface="Calibri"/>
          <a:cs typeface="Calibri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sz="2800" b="0" i="0" u="none" strike="noStrike" cap="none" spc="-1" baseline="0">
          <a:ln>
            <a:noFill/>
          </a:ln>
          <a:solidFill>
            <a:srgbClr val="000000"/>
          </a:solidFill>
          <a:uFill>
            <a:solidFill>
              <a:srgbClr val="FFFFFF"/>
            </a:solidFill>
          </a:uFill>
          <a:latin typeface="Calibri"/>
          <a:ea typeface="Calibri"/>
          <a:cs typeface="Calibri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sz="2800" b="0" i="0" u="none" strike="noStrike" cap="none" spc="-1" baseline="0">
          <a:ln>
            <a:noFill/>
          </a:ln>
          <a:solidFill>
            <a:srgbClr val="000000"/>
          </a:solidFill>
          <a:uFill>
            <a:solidFill>
              <a:srgbClr val="FFFFFF"/>
            </a:solidFill>
          </a:uFill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ln>
            <a:noFill/>
          </a:ln>
          <a:solidFill>
            <a:schemeClr val="tx1"/>
          </a:solidFill>
          <a:uFill>
            <a:solidFill>
              <a:srgbClr val="FFFFFF"/>
            </a:solidFill>
          </a:uFill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ln>
            <a:noFill/>
          </a:ln>
          <a:solidFill>
            <a:schemeClr val="tx1"/>
          </a:solidFill>
          <a:uFill>
            <a:solidFill>
              <a:srgbClr val="FFFFFF"/>
            </a:solidFill>
          </a:uFill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ln>
            <a:noFill/>
          </a:ln>
          <a:solidFill>
            <a:schemeClr val="tx1"/>
          </a:solidFill>
          <a:uFill>
            <a:solidFill>
              <a:srgbClr val="FFFFFF"/>
            </a:solidFill>
          </a:uFill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ln>
            <a:noFill/>
          </a:ln>
          <a:solidFill>
            <a:schemeClr val="tx1"/>
          </a:solidFill>
          <a:uFill>
            <a:solidFill>
              <a:srgbClr val="FFFFFF"/>
            </a:solidFill>
          </a:uFill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ln>
            <a:noFill/>
          </a:ln>
          <a:solidFill>
            <a:schemeClr val="tx1"/>
          </a:solidFill>
          <a:uFill>
            <a:solidFill>
              <a:srgbClr val="FFFFFF"/>
            </a:solidFill>
          </a:uFill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ln>
            <a:noFill/>
          </a:ln>
          <a:solidFill>
            <a:schemeClr val="tx1"/>
          </a:solidFill>
          <a:uFill>
            <a:solidFill>
              <a:srgbClr val="FFFFFF"/>
            </a:solidFill>
          </a:uFill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ln>
            <a:noFill/>
          </a:ln>
          <a:solidFill>
            <a:schemeClr val="tx1"/>
          </a:solidFill>
          <a:uFill>
            <a:solidFill>
              <a:srgbClr val="FFFFFF"/>
            </a:solidFill>
          </a:uFill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ln>
            <a:noFill/>
          </a:ln>
          <a:solidFill>
            <a:schemeClr val="tx1"/>
          </a:solidFill>
          <a:uFill>
            <a:solidFill>
              <a:srgbClr val="FFFFFF"/>
            </a:solidFill>
          </a:uFill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ln>
            <a:noFill/>
          </a:ln>
          <a:solidFill>
            <a:schemeClr val="tx1"/>
          </a:solidFill>
          <a:uFill>
            <a:solidFill>
              <a:srgbClr val="FFFFFF"/>
            </a:solidFill>
          </a:uFill>
          <a:latin typeface="+mn-lt"/>
          <a:ea typeface="+mn-ea"/>
          <a:cs typeface="+mn-cs"/>
          <a:sym typeface="Calibri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70786" y="273177"/>
            <a:ext cx="6964426" cy="299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5300" y="1577340"/>
            <a:ext cx="89154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68040" y="6377940"/>
            <a:ext cx="31699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132320" y="6377940"/>
            <a:ext cx="22783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23686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C21480-109F-40EA-8A90-C1F549EBC457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06BF35-393F-4F3D-A0F7-37E0F3D0A0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0720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mailto:dax@helpconfort.com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ngtree.com/so/merci-beaucou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Image 4" descr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3956" y="517320"/>
            <a:ext cx="3378086" cy="137129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45" name="Groupe 2"/>
          <p:cNvGrpSpPr/>
          <p:nvPr/>
        </p:nvGrpSpPr>
        <p:grpSpPr>
          <a:xfrm>
            <a:off x="-2" y="5208463"/>
            <a:ext cx="9906000" cy="1676957"/>
            <a:chOff x="0" y="93048"/>
            <a:chExt cx="9906000" cy="1676956"/>
          </a:xfrm>
        </p:grpSpPr>
        <p:grpSp>
          <p:nvGrpSpPr>
            <p:cNvPr id="143" name="Rectangle 7"/>
            <p:cNvGrpSpPr/>
            <p:nvPr/>
          </p:nvGrpSpPr>
          <p:grpSpPr>
            <a:xfrm>
              <a:off x="0" y="317686"/>
              <a:ext cx="9906000" cy="1452318"/>
              <a:chOff x="0" y="-1"/>
              <a:chExt cx="9906000" cy="1452317"/>
            </a:xfrm>
          </p:grpSpPr>
          <p:sp>
            <p:nvSpPr>
              <p:cNvPr id="141" name="Rectangle"/>
              <p:cNvSpPr/>
              <p:nvPr/>
            </p:nvSpPr>
            <p:spPr>
              <a:xfrm>
                <a:off x="0" y="-1"/>
                <a:ext cx="9906000" cy="1452317"/>
              </a:xfrm>
              <a:prstGeom prst="rect">
                <a:avLst/>
              </a:prstGeom>
              <a:solidFill>
                <a:srgbClr val="008DD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 b="1">
                    <a:solidFill>
                      <a:srgbClr val="FFFFFF"/>
                    </a:solidFill>
                    <a:latin typeface="Comfortaa"/>
                    <a:ea typeface="Comfortaa"/>
                    <a:cs typeface="Comfortaa"/>
                    <a:sym typeface="Comfortaa"/>
                  </a:defRPr>
                </a:pPr>
                <a:endParaRPr/>
              </a:p>
            </p:txBody>
          </p:sp>
          <p:sp>
            <p:nvSpPr>
              <p:cNvPr id="142" name="Texte"/>
              <p:cNvSpPr txBox="1"/>
              <p:nvPr/>
            </p:nvSpPr>
            <p:spPr>
              <a:xfrm>
                <a:off x="0" y="439137"/>
                <a:ext cx="9906000" cy="5740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>
                  <a:defRPr sz="3200" b="1">
                    <a:solidFill>
                      <a:srgbClr val="FFFFFF"/>
                    </a:solidFill>
                    <a:latin typeface="Comfortaa"/>
                    <a:ea typeface="Comfortaa"/>
                    <a:cs typeface="Comfortaa"/>
                    <a:sym typeface="Comfortaa"/>
                  </a:defRPr>
                </a:lvl1pPr>
              </a:lstStyle>
              <a:p>
                <a:r>
                  <a:t>  </a:t>
                </a:r>
              </a:p>
            </p:txBody>
          </p:sp>
        </p:grpSp>
        <p:sp>
          <p:nvSpPr>
            <p:cNvPr id="144" name="Rectangle 1"/>
            <p:cNvSpPr/>
            <p:nvPr/>
          </p:nvSpPr>
          <p:spPr>
            <a:xfrm rot="18900000">
              <a:off x="4728362" y="93048"/>
              <a:ext cx="449278" cy="449278"/>
            </a:xfrm>
            <a:prstGeom prst="rect">
              <a:avLst/>
            </a:prstGeom>
            <a:solidFill>
              <a:srgbClr val="008DD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146" name="ZoneTexte 5"/>
          <p:cNvSpPr txBox="1"/>
          <p:nvPr/>
        </p:nvSpPr>
        <p:spPr>
          <a:xfrm>
            <a:off x="708143" y="5581801"/>
            <a:ext cx="8489710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spcBef>
                <a:spcPts val="600"/>
              </a:spcBef>
              <a:defRPr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endParaRPr sz="3600" b="1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0B5FDA3E-B13D-E000-11D4-F0D1FA140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798" y="2064715"/>
            <a:ext cx="7772400" cy="2967643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DBED6812-3BDD-AB6C-F072-9B092D584377}"/>
              </a:ext>
            </a:extLst>
          </p:cNvPr>
          <p:cNvSpPr txBox="1"/>
          <p:nvPr/>
        </p:nvSpPr>
        <p:spPr>
          <a:xfrm>
            <a:off x="379709" y="5821286"/>
            <a:ext cx="9781955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fr-FR" sz="2000" dirty="0">
                <a:latin typeface="American Typewriter" panose="02090604020004020304" pitchFamily="18" charset="77"/>
                <a:cs typeface="AkayaTelivigala" pitchFamily="2" charset="77"/>
              </a:rPr>
              <a:t>La confiance commence par l’écoute, et se construit grâce à la réactivité."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roupe 14"/>
          <p:cNvGrpSpPr/>
          <p:nvPr/>
        </p:nvGrpSpPr>
        <p:grpSpPr>
          <a:xfrm>
            <a:off x="0" y="-71495"/>
            <a:ext cx="9906000" cy="869392"/>
            <a:chOff x="0" y="0"/>
            <a:chExt cx="9906000" cy="869390"/>
          </a:xfrm>
        </p:grpSpPr>
        <p:grpSp>
          <p:nvGrpSpPr>
            <p:cNvPr id="155" name="Rectangle 15"/>
            <p:cNvGrpSpPr/>
            <p:nvPr/>
          </p:nvGrpSpPr>
          <p:grpSpPr>
            <a:xfrm>
              <a:off x="0" y="71492"/>
              <a:ext cx="9906000" cy="762003"/>
              <a:chOff x="0" y="-1"/>
              <a:chExt cx="9906000" cy="762001"/>
            </a:xfrm>
          </p:grpSpPr>
          <p:sp>
            <p:nvSpPr>
              <p:cNvPr id="153" name="Rectangle"/>
              <p:cNvSpPr/>
              <p:nvPr/>
            </p:nvSpPr>
            <p:spPr>
              <a:xfrm>
                <a:off x="0" y="-1"/>
                <a:ext cx="9906000" cy="762001"/>
              </a:xfrm>
              <a:prstGeom prst="rect">
                <a:avLst/>
              </a:prstGeom>
              <a:solidFill>
                <a:srgbClr val="008DD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 b="1">
                    <a:solidFill>
                      <a:srgbClr val="FFFFFF"/>
                    </a:solidFill>
                    <a:latin typeface="Comfortaa"/>
                    <a:ea typeface="Comfortaa"/>
                    <a:cs typeface="Comfortaa"/>
                    <a:sym typeface="Comfortaa"/>
                  </a:defRPr>
                </a:pPr>
                <a:endParaRPr/>
              </a:p>
            </p:txBody>
          </p:sp>
          <p:sp>
            <p:nvSpPr>
              <p:cNvPr id="154" name="Présentation"/>
              <p:cNvSpPr txBox="1"/>
              <p:nvPr/>
            </p:nvSpPr>
            <p:spPr>
              <a:xfrm>
                <a:off x="0" y="88615"/>
                <a:ext cx="9906000" cy="5847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>
                  <a:defRPr sz="3200" b="1">
                    <a:solidFill>
                      <a:srgbClr val="FFFFFF"/>
                    </a:solidFill>
                    <a:latin typeface="Comfortaa"/>
                    <a:ea typeface="Comfortaa"/>
                    <a:cs typeface="Comfortaa"/>
                    <a:sym typeface="Comfortaa"/>
                  </a:defRPr>
                </a:lvl1pPr>
              </a:lstStyle>
              <a:p>
                <a:r>
                  <a:rPr dirty="0"/>
                  <a:t>  </a:t>
                </a:r>
              </a:p>
            </p:txBody>
          </p:sp>
        </p:grpSp>
        <p:pic>
          <p:nvPicPr>
            <p:cNvPr id="156" name="Image 16" descr="Image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94238" y="0"/>
              <a:ext cx="1229271" cy="86939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4" name="ZoneTexte 3">
            <a:extLst>
              <a:ext uri="{FF2B5EF4-FFF2-40B4-BE49-F238E27FC236}">
                <a16:creationId xmlns:a16="http://schemas.microsoft.com/office/drawing/2014/main" id="{BAC8BD5B-7ABC-E6EF-C341-DFC3081E0F43}"/>
              </a:ext>
            </a:extLst>
          </p:cNvPr>
          <p:cNvSpPr txBox="1"/>
          <p:nvPr/>
        </p:nvSpPr>
        <p:spPr>
          <a:xfrm>
            <a:off x="4040974" y="2480179"/>
            <a:ext cx="1828800" cy="18288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043E910-7C9B-1A89-10ED-EF5F36CA260B}"/>
              </a:ext>
            </a:extLst>
          </p:cNvPr>
          <p:cNvSpPr txBox="1"/>
          <p:nvPr/>
        </p:nvSpPr>
        <p:spPr>
          <a:xfrm>
            <a:off x="215925" y="1010094"/>
            <a:ext cx="9120580" cy="424731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fr-FR" b="1" u="sng" dirty="0">
                <a:solidFill>
                  <a:srgbClr val="0070C0"/>
                </a:solidFill>
              </a:rPr>
              <a:t>QUI SOMMES-NOUS ?</a:t>
            </a:r>
          </a:p>
          <a:p>
            <a:endParaRPr lang="fr-FR" b="1" u="sng" dirty="0">
              <a:solidFill>
                <a:srgbClr val="0070C0"/>
              </a:solidFill>
            </a:endParaRPr>
          </a:p>
          <a:p>
            <a:endParaRPr lang="fr-FR" b="1" u="sng" dirty="0">
              <a:solidFill>
                <a:srgbClr val="0070C0"/>
              </a:solidFill>
            </a:endParaRPr>
          </a:p>
          <a:p>
            <a:r>
              <a:rPr lang="fr-FR" b="1" dirty="0">
                <a:solidFill>
                  <a:srgbClr val="0070C0"/>
                </a:solidFill>
              </a:rPr>
              <a:t>Une équipe à taille humaine, proche de vous</a:t>
            </a:r>
          </a:p>
          <a:p>
            <a:r>
              <a:rPr lang="fr-FR" dirty="0">
                <a:solidFill>
                  <a:srgbClr val="0070C0"/>
                </a:solidFill>
              </a:rPr>
              <a:t>HELP Confort </a:t>
            </a:r>
            <a:r>
              <a:rPr lang="fr-FR" b="1" dirty="0">
                <a:solidFill>
                  <a:srgbClr val="0070C0"/>
                </a:solidFill>
              </a:rPr>
              <a:t>Landes &amp; Pays Basques</a:t>
            </a:r>
            <a:r>
              <a:rPr lang="fr-FR" dirty="0">
                <a:solidFill>
                  <a:srgbClr val="0070C0"/>
                </a:solidFill>
              </a:rPr>
              <a:t> est née en </a:t>
            </a:r>
            <a:r>
              <a:rPr lang="fr-FR" b="1" dirty="0">
                <a:solidFill>
                  <a:srgbClr val="0070C0"/>
                </a:solidFill>
              </a:rPr>
              <a:t>avril 2021</a:t>
            </a:r>
            <a:r>
              <a:rPr lang="fr-FR" dirty="0">
                <a:solidFill>
                  <a:srgbClr val="0070C0"/>
                </a:solidFill>
              </a:rPr>
              <a:t>.</a:t>
            </a:r>
            <a:br>
              <a:rPr lang="fr-FR" dirty="0">
                <a:solidFill>
                  <a:srgbClr val="0070C0"/>
                </a:solidFill>
              </a:rPr>
            </a:br>
            <a:r>
              <a:rPr lang="fr-FR" dirty="0">
                <a:solidFill>
                  <a:srgbClr val="0070C0"/>
                </a:solidFill>
              </a:rPr>
              <a:t>Entreprise locale du </a:t>
            </a:r>
            <a:r>
              <a:rPr lang="fr-FR" b="1" dirty="0">
                <a:solidFill>
                  <a:srgbClr val="0070C0"/>
                </a:solidFill>
              </a:rPr>
              <a:t>Groupe La Poste</a:t>
            </a:r>
            <a:r>
              <a:rPr lang="fr-FR" dirty="0">
                <a:solidFill>
                  <a:srgbClr val="0070C0"/>
                </a:solidFill>
              </a:rPr>
              <a:t>, nous avons évolué au rythme des interventions et des besoins du terrain.</a:t>
            </a:r>
            <a:br>
              <a:rPr lang="fr-FR" dirty="0">
                <a:solidFill>
                  <a:srgbClr val="0070C0"/>
                </a:solidFill>
              </a:rPr>
            </a:br>
            <a:r>
              <a:rPr lang="fr-FR" dirty="0">
                <a:solidFill>
                  <a:srgbClr val="0070C0"/>
                </a:solidFill>
              </a:rPr>
              <a:t>Grâce à la confiance de nos partenaires et à l’engagement de notre équipe, nous sommes aujourd’hui </a:t>
            </a:r>
            <a:r>
              <a:rPr lang="fr-FR" b="1" dirty="0">
                <a:solidFill>
                  <a:srgbClr val="0070C0"/>
                </a:solidFill>
              </a:rPr>
              <a:t>la 2ᵉ agence la plus performante de notre réseau national</a:t>
            </a:r>
            <a:r>
              <a:rPr lang="fr-FR" dirty="0">
                <a:solidFill>
                  <a:srgbClr val="0070C0"/>
                </a:solidFill>
              </a:rPr>
              <a:t>.</a:t>
            </a:r>
          </a:p>
          <a:p>
            <a:endParaRPr lang="fr-FR" b="1" u="sng" dirty="0">
              <a:solidFill>
                <a:srgbClr val="0070C0"/>
              </a:solidFill>
            </a:endParaRPr>
          </a:p>
          <a:p>
            <a:r>
              <a:rPr lang="fr-FR" b="1" dirty="0">
                <a:solidFill>
                  <a:srgbClr val="0070C0"/>
                </a:solidFill>
              </a:rPr>
              <a:t>Nous sommes spécialisés </a:t>
            </a:r>
            <a:r>
              <a:rPr lang="fr-FR" dirty="0">
                <a:solidFill>
                  <a:srgbClr val="0070C0"/>
                </a:solidFill>
              </a:rPr>
              <a:t>dans le dépannage et l’amélioration de l’habitat.</a:t>
            </a:r>
            <a:br>
              <a:rPr lang="fr-FR" dirty="0">
                <a:solidFill>
                  <a:srgbClr val="0070C0"/>
                </a:solidFill>
              </a:rPr>
            </a:br>
            <a:r>
              <a:rPr lang="fr-FR" dirty="0">
                <a:solidFill>
                  <a:srgbClr val="0070C0"/>
                </a:solidFill>
              </a:rPr>
              <a:t>Notre force : </a:t>
            </a:r>
            <a:r>
              <a:rPr lang="fr-FR" b="1" dirty="0">
                <a:solidFill>
                  <a:srgbClr val="0070C0"/>
                </a:solidFill>
              </a:rPr>
              <a:t>des interventions rapides</a:t>
            </a:r>
            <a:r>
              <a:rPr lang="fr-FR" dirty="0">
                <a:solidFill>
                  <a:srgbClr val="0070C0"/>
                </a:solidFill>
              </a:rPr>
              <a:t>, une </a:t>
            </a:r>
            <a:r>
              <a:rPr lang="fr-FR" b="1" dirty="0">
                <a:solidFill>
                  <a:srgbClr val="0070C0"/>
                </a:solidFill>
              </a:rPr>
              <a:t>écoute réelle</a:t>
            </a:r>
            <a:r>
              <a:rPr lang="fr-FR" dirty="0">
                <a:solidFill>
                  <a:srgbClr val="0070C0"/>
                </a:solidFill>
              </a:rPr>
              <a:t>, et un </a:t>
            </a:r>
            <a:r>
              <a:rPr lang="fr-FR" b="1" dirty="0">
                <a:solidFill>
                  <a:srgbClr val="0070C0"/>
                </a:solidFill>
              </a:rPr>
              <a:t>accompagnement personnalisé</a:t>
            </a:r>
            <a:r>
              <a:rPr lang="fr-FR" dirty="0">
                <a:solidFill>
                  <a:srgbClr val="0070C0"/>
                </a:solidFill>
              </a:rPr>
              <a:t>.</a:t>
            </a:r>
          </a:p>
          <a:p>
            <a:endParaRPr lang="fr-FR" dirty="0">
              <a:solidFill>
                <a:srgbClr val="0070C0"/>
              </a:solidFill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ADFEE-85F0-82D8-648E-EDFA7846B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0" name="Groupe 14">
            <a:extLst>
              <a:ext uri="{FF2B5EF4-FFF2-40B4-BE49-F238E27FC236}">
                <a16:creationId xmlns:a16="http://schemas.microsoft.com/office/drawing/2014/main" id="{1534C9A3-DD7F-FBD8-966D-3682011B728F}"/>
              </a:ext>
            </a:extLst>
          </p:cNvPr>
          <p:cNvGrpSpPr/>
          <p:nvPr/>
        </p:nvGrpSpPr>
        <p:grpSpPr>
          <a:xfrm>
            <a:off x="0" y="-71495"/>
            <a:ext cx="9906000" cy="869392"/>
            <a:chOff x="0" y="0"/>
            <a:chExt cx="9906000" cy="869390"/>
          </a:xfrm>
        </p:grpSpPr>
        <p:grpSp>
          <p:nvGrpSpPr>
            <p:cNvPr id="318" name="Rectangle 15">
              <a:extLst>
                <a:ext uri="{FF2B5EF4-FFF2-40B4-BE49-F238E27FC236}">
                  <a16:creationId xmlns:a16="http://schemas.microsoft.com/office/drawing/2014/main" id="{694DAA61-2DAB-39E1-C53D-BA8DE667D49C}"/>
                </a:ext>
              </a:extLst>
            </p:cNvPr>
            <p:cNvGrpSpPr/>
            <p:nvPr/>
          </p:nvGrpSpPr>
          <p:grpSpPr>
            <a:xfrm>
              <a:off x="0" y="71492"/>
              <a:ext cx="9906000" cy="762003"/>
              <a:chOff x="0" y="-1"/>
              <a:chExt cx="9906000" cy="762001"/>
            </a:xfrm>
          </p:grpSpPr>
          <p:sp>
            <p:nvSpPr>
              <p:cNvPr id="316" name="Rectangle">
                <a:extLst>
                  <a:ext uri="{FF2B5EF4-FFF2-40B4-BE49-F238E27FC236}">
                    <a16:creationId xmlns:a16="http://schemas.microsoft.com/office/drawing/2014/main" id="{B303EA4E-3A9E-231E-6A81-D4E75BE0A3D6}"/>
                  </a:ext>
                </a:extLst>
              </p:cNvPr>
              <p:cNvSpPr/>
              <p:nvPr/>
            </p:nvSpPr>
            <p:spPr>
              <a:xfrm>
                <a:off x="0" y="-1"/>
                <a:ext cx="9906000" cy="762001"/>
              </a:xfrm>
              <a:prstGeom prst="rect">
                <a:avLst/>
              </a:prstGeom>
              <a:solidFill>
                <a:srgbClr val="008DD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 b="1">
                    <a:solidFill>
                      <a:srgbClr val="FFFFFF"/>
                    </a:solidFill>
                    <a:latin typeface="Comfortaa"/>
                    <a:ea typeface="Comfortaa"/>
                    <a:cs typeface="Comfortaa"/>
                    <a:sym typeface="Comfortaa"/>
                  </a:defRPr>
                </a:pPr>
                <a:endParaRPr/>
              </a:p>
            </p:txBody>
          </p:sp>
          <p:sp>
            <p:nvSpPr>
              <p:cNvPr id="317" name="Une couverture nationale">
                <a:extLst>
                  <a:ext uri="{FF2B5EF4-FFF2-40B4-BE49-F238E27FC236}">
                    <a16:creationId xmlns:a16="http://schemas.microsoft.com/office/drawing/2014/main" id="{45382AC0-8230-ADD1-26E7-4B6D5CB5AF82}"/>
                  </a:ext>
                </a:extLst>
              </p:cNvPr>
              <p:cNvSpPr txBox="1"/>
              <p:nvPr/>
            </p:nvSpPr>
            <p:spPr>
              <a:xfrm>
                <a:off x="0" y="88615"/>
                <a:ext cx="9906000" cy="5847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>
                  <a:defRPr sz="3200" b="1">
                    <a:solidFill>
                      <a:srgbClr val="FFFFFF"/>
                    </a:solidFill>
                    <a:latin typeface="Comfortaa"/>
                    <a:ea typeface="Comfortaa"/>
                    <a:cs typeface="Comfortaa"/>
                    <a:sym typeface="Comfortaa"/>
                  </a:defRPr>
                </a:lvl1pPr>
              </a:lstStyle>
              <a:p>
                <a:endParaRPr dirty="0"/>
              </a:p>
            </p:txBody>
          </p:sp>
        </p:grpSp>
        <p:pic>
          <p:nvPicPr>
            <p:cNvPr id="319" name="Image 16" descr="Image 16">
              <a:extLst>
                <a:ext uri="{FF2B5EF4-FFF2-40B4-BE49-F238E27FC236}">
                  <a16:creationId xmlns:a16="http://schemas.microsoft.com/office/drawing/2014/main" id="{E48D88A7-51B5-EFCC-421B-F2B1D43723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94238" y="0"/>
              <a:ext cx="1229271" cy="86939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37CD7911-F1C3-7D7D-5489-9EFB037A5E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0386743"/>
              </p:ext>
            </p:extLst>
          </p:nvPr>
        </p:nvGraphicFramePr>
        <p:xfrm>
          <a:off x="6742459" y="4093198"/>
          <a:ext cx="3081049" cy="27800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ZoneTexte 1">
            <a:extLst>
              <a:ext uri="{FF2B5EF4-FFF2-40B4-BE49-F238E27FC236}">
                <a16:creationId xmlns:a16="http://schemas.microsoft.com/office/drawing/2014/main" id="{61BE575D-219D-7FF3-4FD1-BF3A8B8B073F}"/>
              </a:ext>
            </a:extLst>
          </p:cNvPr>
          <p:cNvSpPr txBox="1"/>
          <p:nvPr/>
        </p:nvSpPr>
        <p:spPr>
          <a:xfrm>
            <a:off x="733925" y="1305342"/>
            <a:ext cx="6485022" cy="424731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fr-FR" b="1" u="sng" dirty="0">
                <a:solidFill>
                  <a:srgbClr val="0070C0"/>
                </a:solidFill>
              </a:rPr>
              <a:t>Notre équipe</a:t>
            </a:r>
          </a:p>
          <a:p>
            <a:endParaRPr lang="fr-FR" b="1" u="sng" dirty="0">
              <a:solidFill>
                <a:srgbClr val="0070C0"/>
              </a:solidFill>
            </a:endParaRPr>
          </a:p>
          <a:p>
            <a:r>
              <a:rPr lang="fr-FR" dirty="0">
                <a:solidFill>
                  <a:srgbClr val="0070C0"/>
                </a:solidFill>
              </a:rPr>
              <a:t>👷‍♂️ </a:t>
            </a:r>
            <a:r>
              <a:rPr lang="fr-FR" b="1" dirty="0">
                <a:solidFill>
                  <a:srgbClr val="0070C0"/>
                </a:solidFill>
              </a:rPr>
              <a:t>9 techniciens qualifiés sur le terrain :</a:t>
            </a:r>
            <a:endParaRPr lang="fr-FR" dirty="0">
              <a:solidFill>
                <a:srgbClr val="0070C0"/>
              </a:solidFill>
            </a:endParaRPr>
          </a:p>
          <a:p>
            <a:r>
              <a:rPr lang="fr-FR" dirty="0">
                <a:solidFill>
                  <a:srgbClr val="0070C0"/>
                </a:solidFill>
              </a:rPr>
              <a:t>Menuisiers</a:t>
            </a:r>
          </a:p>
          <a:p>
            <a:r>
              <a:rPr lang="fr-FR" dirty="0">
                <a:solidFill>
                  <a:srgbClr val="0070C0"/>
                </a:solidFill>
              </a:rPr>
              <a:t>Plombiers / Chauffagistes</a:t>
            </a:r>
          </a:p>
          <a:p>
            <a:r>
              <a:rPr lang="fr-FR" dirty="0">
                <a:solidFill>
                  <a:srgbClr val="0070C0"/>
                </a:solidFill>
              </a:rPr>
              <a:t>Électriciens</a:t>
            </a:r>
          </a:p>
          <a:p>
            <a:r>
              <a:rPr lang="fr-FR" dirty="0">
                <a:solidFill>
                  <a:srgbClr val="0070C0"/>
                </a:solidFill>
              </a:rPr>
              <a:t>Plaquiste / Peintre</a:t>
            </a:r>
          </a:p>
          <a:p>
            <a:r>
              <a:rPr lang="fr-FR" dirty="0">
                <a:solidFill>
                  <a:srgbClr val="0070C0"/>
                </a:solidFill>
              </a:rPr>
              <a:t>Technico-commercial</a:t>
            </a:r>
          </a:p>
          <a:p>
            <a:endParaRPr lang="fr-FR" dirty="0">
              <a:solidFill>
                <a:srgbClr val="0070C0"/>
              </a:solidFill>
            </a:endParaRPr>
          </a:p>
          <a:p>
            <a:r>
              <a:rPr lang="fr-FR" dirty="0">
                <a:solidFill>
                  <a:srgbClr val="0070C0"/>
                </a:solidFill>
              </a:rPr>
              <a:t>📞 </a:t>
            </a:r>
            <a:r>
              <a:rPr lang="fr-FR" b="1" u="sng" dirty="0">
                <a:solidFill>
                  <a:srgbClr val="0070C0"/>
                </a:solidFill>
              </a:rPr>
              <a:t>2 assistantes administratives dédiées </a:t>
            </a:r>
            <a:r>
              <a:rPr lang="fr-FR" b="1" dirty="0">
                <a:solidFill>
                  <a:srgbClr val="0070C0"/>
                </a:solidFill>
              </a:rPr>
              <a:t>:</a:t>
            </a:r>
            <a:endParaRPr lang="fr-FR" dirty="0">
              <a:solidFill>
                <a:srgbClr val="0070C0"/>
              </a:solidFill>
            </a:endParaRPr>
          </a:p>
          <a:p>
            <a:r>
              <a:rPr lang="fr-FR" dirty="0">
                <a:solidFill>
                  <a:srgbClr val="0070C0"/>
                </a:solidFill>
              </a:rPr>
              <a:t>Gestion des appels &amp; création de dossiers</a:t>
            </a:r>
          </a:p>
          <a:p>
            <a:r>
              <a:rPr lang="fr-FR" dirty="0">
                <a:solidFill>
                  <a:srgbClr val="0070C0"/>
                </a:solidFill>
              </a:rPr>
              <a:t>Organisation des plannings &amp; suivi client</a:t>
            </a:r>
          </a:p>
          <a:p>
            <a:endParaRPr lang="fr-FR" dirty="0">
              <a:solidFill>
                <a:srgbClr val="0070C0"/>
              </a:solidFill>
            </a:endParaRPr>
          </a:p>
          <a:p>
            <a:r>
              <a:rPr lang="fr-FR" dirty="0">
                <a:solidFill>
                  <a:srgbClr val="0070C0"/>
                </a:solidFill>
              </a:rPr>
              <a:t>Des fournisseurs réactifs à toutes nos demandes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002459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C6EF8-AD10-5CE8-1E97-B0C02D017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roupe 14">
            <a:extLst>
              <a:ext uri="{FF2B5EF4-FFF2-40B4-BE49-F238E27FC236}">
                <a16:creationId xmlns:a16="http://schemas.microsoft.com/office/drawing/2014/main" id="{913816D6-50FA-69AC-E333-8D4CDD178816}"/>
              </a:ext>
            </a:extLst>
          </p:cNvPr>
          <p:cNvGrpSpPr/>
          <p:nvPr/>
        </p:nvGrpSpPr>
        <p:grpSpPr>
          <a:xfrm>
            <a:off x="0" y="-71495"/>
            <a:ext cx="9906000" cy="869392"/>
            <a:chOff x="0" y="0"/>
            <a:chExt cx="9906000" cy="869390"/>
          </a:xfrm>
        </p:grpSpPr>
        <p:grpSp>
          <p:nvGrpSpPr>
            <p:cNvPr id="155" name="Rectangle 15">
              <a:extLst>
                <a:ext uri="{FF2B5EF4-FFF2-40B4-BE49-F238E27FC236}">
                  <a16:creationId xmlns:a16="http://schemas.microsoft.com/office/drawing/2014/main" id="{3519F3DD-9D86-DA32-2888-7C15DB9E146E}"/>
                </a:ext>
              </a:extLst>
            </p:cNvPr>
            <p:cNvGrpSpPr/>
            <p:nvPr/>
          </p:nvGrpSpPr>
          <p:grpSpPr>
            <a:xfrm>
              <a:off x="0" y="71492"/>
              <a:ext cx="9906000" cy="762003"/>
              <a:chOff x="0" y="-1"/>
              <a:chExt cx="9906000" cy="762001"/>
            </a:xfrm>
          </p:grpSpPr>
          <p:sp>
            <p:nvSpPr>
              <p:cNvPr id="153" name="Rectangle">
                <a:extLst>
                  <a:ext uri="{FF2B5EF4-FFF2-40B4-BE49-F238E27FC236}">
                    <a16:creationId xmlns:a16="http://schemas.microsoft.com/office/drawing/2014/main" id="{96D0703D-FDF6-30B4-648A-206CD10800ED}"/>
                  </a:ext>
                </a:extLst>
              </p:cNvPr>
              <p:cNvSpPr/>
              <p:nvPr/>
            </p:nvSpPr>
            <p:spPr>
              <a:xfrm>
                <a:off x="0" y="-1"/>
                <a:ext cx="9906000" cy="762001"/>
              </a:xfrm>
              <a:prstGeom prst="rect">
                <a:avLst/>
              </a:prstGeom>
              <a:solidFill>
                <a:srgbClr val="008DD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 b="1">
                    <a:solidFill>
                      <a:srgbClr val="FFFFFF"/>
                    </a:solidFill>
                    <a:latin typeface="Comfortaa"/>
                    <a:ea typeface="Comfortaa"/>
                    <a:cs typeface="Comfortaa"/>
                    <a:sym typeface="Comfortaa"/>
                  </a:defRPr>
                </a:pPr>
                <a:endParaRPr/>
              </a:p>
            </p:txBody>
          </p:sp>
          <p:sp>
            <p:nvSpPr>
              <p:cNvPr id="154" name="Présentation">
                <a:extLst>
                  <a:ext uri="{FF2B5EF4-FFF2-40B4-BE49-F238E27FC236}">
                    <a16:creationId xmlns:a16="http://schemas.microsoft.com/office/drawing/2014/main" id="{59148E9C-CD27-4F05-E8E0-B33E3E48903B}"/>
                  </a:ext>
                </a:extLst>
              </p:cNvPr>
              <p:cNvSpPr txBox="1"/>
              <p:nvPr/>
            </p:nvSpPr>
            <p:spPr>
              <a:xfrm>
                <a:off x="0" y="88615"/>
                <a:ext cx="9906000" cy="5847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>
                  <a:defRPr sz="3200" b="1">
                    <a:solidFill>
                      <a:srgbClr val="FFFFFF"/>
                    </a:solidFill>
                    <a:latin typeface="Comfortaa"/>
                    <a:ea typeface="Comfortaa"/>
                    <a:cs typeface="Comfortaa"/>
                    <a:sym typeface="Comfortaa"/>
                  </a:defRPr>
                </a:lvl1pPr>
              </a:lstStyle>
              <a:p>
                <a:endParaRPr dirty="0"/>
              </a:p>
            </p:txBody>
          </p:sp>
        </p:grpSp>
        <p:pic>
          <p:nvPicPr>
            <p:cNvPr id="156" name="Image 16" descr="Image 16">
              <a:extLst>
                <a:ext uri="{FF2B5EF4-FFF2-40B4-BE49-F238E27FC236}">
                  <a16:creationId xmlns:a16="http://schemas.microsoft.com/office/drawing/2014/main" id="{51C532B9-F303-91AA-9AB9-DA8040D550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94238" y="0"/>
              <a:ext cx="1229271" cy="86939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ZoneTexte 2">
            <a:extLst>
              <a:ext uri="{FF2B5EF4-FFF2-40B4-BE49-F238E27FC236}">
                <a16:creationId xmlns:a16="http://schemas.microsoft.com/office/drawing/2014/main" id="{2E98D447-979F-DA98-FE82-B091645C8E7B}"/>
              </a:ext>
            </a:extLst>
          </p:cNvPr>
          <p:cNvSpPr txBox="1"/>
          <p:nvPr/>
        </p:nvSpPr>
        <p:spPr>
          <a:xfrm>
            <a:off x="858110" y="1542034"/>
            <a:ext cx="7736128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endParaRPr lang="fr-FR" sz="2000" b="1" dirty="0">
              <a:solidFill>
                <a:srgbClr val="0070C0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3AC71E3-543C-5F92-9363-A34806C684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042" y="2356988"/>
            <a:ext cx="699066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40BDAA29-09F5-3A16-16C9-73BE222B37CF}"/>
              </a:ext>
            </a:extLst>
          </p:cNvPr>
          <p:cNvSpPr txBox="1"/>
          <p:nvPr/>
        </p:nvSpPr>
        <p:spPr>
          <a:xfrm>
            <a:off x="601579" y="1251284"/>
            <a:ext cx="7603958" cy="59093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fr-FR" b="1" u="sng" dirty="0">
                <a:solidFill>
                  <a:srgbClr val="0070C0"/>
                </a:solidFill>
              </a:rPr>
              <a:t>Nos valeurs</a:t>
            </a:r>
          </a:p>
          <a:p>
            <a:endParaRPr lang="fr-FR" b="1" u="sng" dirty="0">
              <a:solidFill>
                <a:srgbClr val="0070C0"/>
              </a:solidFill>
            </a:endParaRPr>
          </a:p>
          <a:p>
            <a:r>
              <a:rPr lang="fr-FR" dirty="0">
                <a:solidFill>
                  <a:srgbClr val="0070C0"/>
                </a:solidFill>
              </a:rPr>
              <a:t>🤝 </a:t>
            </a:r>
            <a:r>
              <a:rPr lang="fr-FR" b="1" dirty="0">
                <a:solidFill>
                  <a:srgbClr val="0070C0"/>
                </a:solidFill>
              </a:rPr>
              <a:t>Proximité</a:t>
            </a:r>
            <a:r>
              <a:rPr lang="fr-FR" dirty="0">
                <a:solidFill>
                  <a:srgbClr val="0070C0"/>
                </a:solidFill>
              </a:rPr>
              <a:t> – un interlocuteur disponible et humain</a:t>
            </a:r>
            <a:br>
              <a:rPr lang="fr-FR" dirty="0">
                <a:solidFill>
                  <a:srgbClr val="0070C0"/>
                </a:solidFill>
              </a:rPr>
            </a:br>
            <a:r>
              <a:rPr lang="fr-FR" dirty="0">
                <a:solidFill>
                  <a:srgbClr val="0070C0"/>
                </a:solidFill>
              </a:rPr>
              <a:t>🔧 </a:t>
            </a:r>
            <a:r>
              <a:rPr lang="fr-FR" b="1" dirty="0">
                <a:solidFill>
                  <a:srgbClr val="0070C0"/>
                </a:solidFill>
              </a:rPr>
              <a:t>Multi-corps de métiers</a:t>
            </a:r>
            <a:r>
              <a:rPr lang="fr-FR" dirty="0">
                <a:solidFill>
                  <a:srgbClr val="0070C0"/>
                </a:solidFill>
              </a:rPr>
              <a:t> – une réponse globale et efficace</a:t>
            </a:r>
            <a:br>
              <a:rPr lang="fr-FR" dirty="0">
                <a:solidFill>
                  <a:srgbClr val="0070C0"/>
                </a:solidFill>
              </a:rPr>
            </a:br>
            <a:r>
              <a:rPr lang="fr-FR" dirty="0">
                <a:solidFill>
                  <a:srgbClr val="0070C0"/>
                </a:solidFill>
              </a:rPr>
              <a:t>⚡ </a:t>
            </a:r>
            <a:r>
              <a:rPr lang="fr-FR" b="1" dirty="0">
                <a:solidFill>
                  <a:srgbClr val="0070C0"/>
                </a:solidFill>
              </a:rPr>
              <a:t>Réactivité</a:t>
            </a:r>
            <a:r>
              <a:rPr lang="fr-FR" dirty="0">
                <a:solidFill>
                  <a:srgbClr val="0070C0"/>
                </a:solidFill>
              </a:rPr>
              <a:t> – chaque nouvelle demande est traitée </a:t>
            </a:r>
            <a:r>
              <a:rPr lang="fr-FR" b="1" dirty="0">
                <a:solidFill>
                  <a:srgbClr val="0070C0"/>
                </a:solidFill>
              </a:rPr>
              <a:t>dans la journée</a:t>
            </a:r>
            <a:br>
              <a:rPr lang="fr-FR" dirty="0">
                <a:solidFill>
                  <a:srgbClr val="0070C0"/>
                </a:solidFill>
              </a:rPr>
            </a:br>
            <a:r>
              <a:rPr lang="fr-FR" dirty="0">
                <a:solidFill>
                  <a:srgbClr val="0070C0"/>
                </a:solidFill>
              </a:rPr>
              <a:t>🔍 </a:t>
            </a:r>
            <a:r>
              <a:rPr lang="fr-FR" b="1" dirty="0">
                <a:solidFill>
                  <a:srgbClr val="0070C0"/>
                </a:solidFill>
              </a:rPr>
              <a:t>Qualité de suivi</a:t>
            </a:r>
            <a:r>
              <a:rPr lang="fr-FR" dirty="0">
                <a:solidFill>
                  <a:srgbClr val="0070C0"/>
                </a:solidFill>
              </a:rPr>
              <a:t> – transparence &amp; communication continue</a:t>
            </a:r>
          </a:p>
          <a:p>
            <a:br>
              <a:rPr lang="fr-FR" dirty="0">
                <a:solidFill>
                  <a:srgbClr val="0070C0"/>
                </a:solidFill>
              </a:rPr>
            </a:br>
            <a:endParaRPr lang="fr-FR" dirty="0">
              <a:solidFill>
                <a:srgbClr val="0070C0"/>
              </a:solidFill>
            </a:endParaRPr>
          </a:p>
          <a:p>
            <a:r>
              <a:rPr lang="fr-FR" b="1" dirty="0">
                <a:solidFill>
                  <a:srgbClr val="0070C0"/>
                </a:solidFill>
              </a:rPr>
              <a:t>Une gestion fluide et transparente</a:t>
            </a:r>
          </a:p>
          <a:p>
            <a:r>
              <a:rPr lang="fr-FR" dirty="0">
                <a:solidFill>
                  <a:srgbClr val="0070C0"/>
                </a:solidFill>
              </a:rPr>
              <a:t>📩 </a:t>
            </a:r>
            <a:r>
              <a:rPr lang="fr-FR" b="1" dirty="0">
                <a:solidFill>
                  <a:srgbClr val="0070C0"/>
                </a:solidFill>
              </a:rPr>
              <a:t>Mail de prise de rendez-vous immédiat</a:t>
            </a:r>
            <a:br>
              <a:rPr lang="fr-FR" dirty="0">
                <a:solidFill>
                  <a:srgbClr val="0070C0"/>
                </a:solidFill>
              </a:rPr>
            </a:br>
            <a:r>
              <a:rPr lang="fr-FR" dirty="0">
                <a:solidFill>
                  <a:srgbClr val="0070C0"/>
                </a:solidFill>
              </a:rPr>
              <a:t>🔗 </a:t>
            </a:r>
            <a:r>
              <a:rPr lang="fr-FR" b="1" dirty="0">
                <a:solidFill>
                  <a:srgbClr val="0070C0"/>
                </a:solidFill>
              </a:rPr>
              <a:t>Lien de suivi de dossier envoyé au locataire</a:t>
            </a:r>
            <a:r>
              <a:rPr lang="fr-FR" dirty="0">
                <a:solidFill>
                  <a:srgbClr val="0070C0"/>
                </a:solidFill>
              </a:rPr>
              <a:t>, permettant une visibilité en temps réel</a:t>
            </a:r>
            <a:br>
              <a:rPr lang="fr-FR" dirty="0">
                <a:solidFill>
                  <a:srgbClr val="0070C0"/>
                </a:solidFill>
              </a:rPr>
            </a:br>
            <a:r>
              <a:rPr lang="fr-FR" dirty="0">
                <a:solidFill>
                  <a:srgbClr val="0070C0"/>
                </a:solidFill>
              </a:rPr>
              <a:t>➡️ Plus besoin de relancer : </a:t>
            </a:r>
            <a:r>
              <a:rPr lang="fr-FR" b="1" dirty="0">
                <a:solidFill>
                  <a:srgbClr val="0070C0"/>
                </a:solidFill>
              </a:rPr>
              <a:t>tout est suivi à distance</a:t>
            </a:r>
          </a:p>
          <a:p>
            <a:endParaRPr lang="fr-FR" b="1" dirty="0">
              <a:solidFill>
                <a:srgbClr val="0070C0"/>
              </a:solidFill>
            </a:endParaRPr>
          </a:p>
          <a:p>
            <a:r>
              <a:rPr lang="fr-FR" b="1" dirty="0">
                <a:solidFill>
                  <a:srgbClr val="0070C0"/>
                </a:solidFill>
              </a:rPr>
              <a:t>PHOTO : APPERCU DU LIEN REÇU PAR LE CLIENT </a:t>
            </a:r>
            <a:endParaRPr lang="fr-FR" dirty="0">
              <a:solidFill>
                <a:srgbClr val="0070C0"/>
              </a:solidFill>
            </a:endParaRPr>
          </a:p>
          <a:p>
            <a:br>
              <a:rPr lang="fr-FR" dirty="0">
                <a:solidFill>
                  <a:srgbClr val="0070C0"/>
                </a:solidFill>
              </a:rPr>
            </a:br>
            <a:endParaRPr lang="fr-FR" dirty="0">
              <a:solidFill>
                <a:srgbClr val="0070C0"/>
              </a:solidFill>
            </a:endParaRPr>
          </a:p>
          <a:p>
            <a:r>
              <a:rPr lang="fr-FR" b="1" dirty="0">
                <a:solidFill>
                  <a:srgbClr val="0070C0"/>
                </a:solidFill>
              </a:rPr>
              <a:t>Zones d’intervention</a:t>
            </a:r>
          </a:p>
          <a:p>
            <a:r>
              <a:rPr lang="fr-FR" dirty="0">
                <a:solidFill>
                  <a:srgbClr val="0070C0"/>
                </a:solidFill>
              </a:rPr>
              <a:t>📍 </a:t>
            </a:r>
            <a:r>
              <a:rPr lang="fr-FR" b="1" dirty="0">
                <a:solidFill>
                  <a:srgbClr val="0070C0"/>
                </a:solidFill>
              </a:rPr>
              <a:t>Toutes les Landes</a:t>
            </a:r>
            <a:br>
              <a:rPr lang="fr-FR" dirty="0">
                <a:solidFill>
                  <a:srgbClr val="0070C0"/>
                </a:solidFill>
              </a:rPr>
            </a:br>
            <a:r>
              <a:rPr lang="fr-FR" dirty="0">
                <a:solidFill>
                  <a:srgbClr val="0070C0"/>
                </a:solidFill>
              </a:rPr>
              <a:t>📍 </a:t>
            </a:r>
            <a:r>
              <a:rPr lang="fr-FR" b="1" dirty="0">
                <a:solidFill>
                  <a:srgbClr val="0070C0"/>
                </a:solidFill>
              </a:rPr>
              <a:t>Le Pays Basque</a:t>
            </a:r>
            <a:endParaRPr lang="fr-FR" dirty="0">
              <a:solidFill>
                <a:srgbClr val="0070C0"/>
              </a:solidFill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1907265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7D695-9585-4109-2297-F507852B3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0" name="Groupe 14">
            <a:extLst>
              <a:ext uri="{FF2B5EF4-FFF2-40B4-BE49-F238E27FC236}">
                <a16:creationId xmlns:a16="http://schemas.microsoft.com/office/drawing/2014/main" id="{787D2757-72A6-890B-0277-5D49924E4E0D}"/>
              </a:ext>
            </a:extLst>
          </p:cNvPr>
          <p:cNvGrpSpPr/>
          <p:nvPr/>
        </p:nvGrpSpPr>
        <p:grpSpPr>
          <a:xfrm>
            <a:off x="108284" y="8236"/>
            <a:ext cx="9906000" cy="1009574"/>
            <a:chOff x="0" y="0"/>
            <a:chExt cx="9906000" cy="1009572"/>
          </a:xfrm>
        </p:grpSpPr>
        <p:grpSp>
          <p:nvGrpSpPr>
            <p:cNvPr id="318" name="Rectangle 15">
              <a:extLst>
                <a:ext uri="{FF2B5EF4-FFF2-40B4-BE49-F238E27FC236}">
                  <a16:creationId xmlns:a16="http://schemas.microsoft.com/office/drawing/2014/main" id="{53D936A4-0F72-B46C-9CA6-0AC35C7FC941}"/>
                </a:ext>
              </a:extLst>
            </p:cNvPr>
            <p:cNvGrpSpPr/>
            <p:nvPr/>
          </p:nvGrpSpPr>
          <p:grpSpPr>
            <a:xfrm>
              <a:off x="0" y="71492"/>
              <a:ext cx="9906000" cy="938080"/>
              <a:chOff x="0" y="-1"/>
              <a:chExt cx="9906000" cy="938078"/>
            </a:xfrm>
          </p:grpSpPr>
          <p:sp>
            <p:nvSpPr>
              <p:cNvPr id="316" name="Rectangle">
                <a:extLst>
                  <a:ext uri="{FF2B5EF4-FFF2-40B4-BE49-F238E27FC236}">
                    <a16:creationId xmlns:a16="http://schemas.microsoft.com/office/drawing/2014/main" id="{27892886-EFE9-D6CE-EDDA-60A237BCAF75}"/>
                  </a:ext>
                </a:extLst>
              </p:cNvPr>
              <p:cNvSpPr/>
              <p:nvPr/>
            </p:nvSpPr>
            <p:spPr>
              <a:xfrm>
                <a:off x="0" y="-1"/>
                <a:ext cx="9906000" cy="762001"/>
              </a:xfrm>
              <a:prstGeom prst="rect">
                <a:avLst/>
              </a:prstGeom>
              <a:solidFill>
                <a:srgbClr val="008DD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 b="1">
                    <a:solidFill>
                      <a:srgbClr val="FFFFFF"/>
                    </a:solidFill>
                    <a:latin typeface="Comfortaa"/>
                    <a:ea typeface="Comfortaa"/>
                    <a:cs typeface="Comfortaa"/>
                    <a:sym typeface="Comfortaa"/>
                  </a:defRPr>
                </a:pPr>
                <a:endParaRPr/>
              </a:p>
            </p:txBody>
          </p:sp>
          <p:sp>
            <p:nvSpPr>
              <p:cNvPr id="317" name="Une couverture nationale">
                <a:extLst>
                  <a:ext uri="{FF2B5EF4-FFF2-40B4-BE49-F238E27FC236}">
                    <a16:creationId xmlns:a16="http://schemas.microsoft.com/office/drawing/2014/main" id="{E76BD931-47BA-8814-7036-3C3084274A2F}"/>
                  </a:ext>
                </a:extLst>
              </p:cNvPr>
              <p:cNvSpPr txBox="1"/>
              <p:nvPr/>
            </p:nvSpPr>
            <p:spPr>
              <a:xfrm>
                <a:off x="0" y="353307"/>
                <a:ext cx="9906000" cy="5847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>
                  <a:defRPr sz="3200" b="1">
                    <a:solidFill>
                      <a:srgbClr val="FFFFFF"/>
                    </a:solidFill>
                    <a:latin typeface="Comfortaa"/>
                    <a:ea typeface="Comfortaa"/>
                    <a:cs typeface="Comfortaa"/>
                    <a:sym typeface="Comfortaa"/>
                  </a:defRPr>
                </a:lvl1pPr>
              </a:lstStyle>
              <a:p>
                <a:r>
                  <a:rPr dirty="0"/>
                  <a:t> </a:t>
                </a:r>
              </a:p>
            </p:txBody>
          </p:sp>
        </p:grpSp>
        <p:pic>
          <p:nvPicPr>
            <p:cNvPr id="319" name="Image 16" descr="Image 16">
              <a:extLst>
                <a:ext uri="{FF2B5EF4-FFF2-40B4-BE49-F238E27FC236}">
                  <a16:creationId xmlns:a16="http://schemas.microsoft.com/office/drawing/2014/main" id="{6ABC92F5-07ED-1935-1464-DC0B68906B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94238" y="0"/>
              <a:ext cx="1229271" cy="86939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10" name="Image 9">
            <a:extLst>
              <a:ext uri="{FF2B5EF4-FFF2-40B4-BE49-F238E27FC236}">
                <a16:creationId xmlns:a16="http://schemas.microsoft.com/office/drawing/2014/main" id="{1E444B26-70B2-146A-A4A1-E9AF8047D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948972"/>
            <a:ext cx="77724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83328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6F6B8-270C-01F2-2A59-F2D35EFD7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0" name="Groupe 14">
            <a:extLst>
              <a:ext uri="{FF2B5EF4-FFF2-40B4-BE49-F238E27FC236}">
                <a16:creationId xmlns:a16="http://schemas.microsoft.com/office/drawing/2014/main" id="{E5F1EDB6-5801-0E84-2D8F-3D1B9206AF14}"/>
              </a:ext>
            </a:extLst>
          </p:cNvPr>
          <p:cNvGrpSpPr/>
          <p:nvPr/>
        </p:nvGrpSpPr>
        <p:grpSpPr>
          <a:xfrm>
            <a:off x="0" y="-106482"/>
            <a:ext cx="9906000" cy="869392"/>
            <a:chOff x="0" y="0"/>
            <a:chExt cx="9906000" cy="869390"/>
          </a:xfrm>
        </p:grpSpPr>
        <p:grpSp>
          <p:nvGrpSpPr>
            <p:cNvPr id="318" name="Rectangle 15">
              <a:extLst>
                <a:ext uri="{FF2B5EF4-FFF2-40B4-BE49-F238E27FC236}">
                  <a16:creationId xmlns:a16="http://schemas.microsoft.com/office/drawing/2014/main" id="{D8F5AF5E-29CF-B83B-399A-897EA1B38C2E}"/>
                </a:ext>
              </a:extLst>
            </p:cNvPr>
            <p:cNvGrpSpPr/>
            <p:nvPr/>
          </p:nvGrpSpPr>
          <p:grpSpPr>
            <a:xfrm>
              <a:off x="0" y="71492"/>
              <a:ext cx="9906000" cy="762003"/>
              <a:chOff x="0" y="-1"/>
              <a:chExt cx="9906000" cy="762001"/>
            </a:xfrm>
          </p:grpSpPr>
          <p:sp>
            <p:nvSpPr>
              <p:cNvPr id="316" name="Rectangle">
                <a:extLst>
                  <a:ext uri="{FF2B5EF4-FFF2-40B4-BE49-F238E27FC236}">
                    <a16:creationId xmlns:a16="http://schemas.microsoft.com/office/drawing/2014/main" id="{25D1A021-CE8F-BB1C-2C78-2D139DE4B03A}"/>
                  </a:ext>
                </a:extLst>
              </p:cNvPr>
              <p:cNvSpPr/>
              <p:nvPr/>
            </p:nvSpPr>
            <p:spPr>
              <a:xfrm>
                <a:off x="0" y="-1"/>
                <a:ext cx="9906000" cy="762001"/>
              </a:xfrm>
              <a:prstGeom prst="rect">
                <a:avLst/>
              </a:prstGeom>
              <a:solidFill>
                <a:srgbClr val="008DD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 b="1">
                    <a:solidFill>
                      <a:srgbClr val="FFFFFF"/>
                    </a:solidFill>
                    <a:latin typeface="Comfortaa"/>
                    <a:ea typeface="Comfortaa"/>
                    <a:cs typeface="Comfortaa"/>
                    <a:sym typeface="Comfortaa"/>
                  </a:defRPr>
                </a:pPr>
                <a:endParaRPr/>
              </a:p>
            </p:txBody>
          </p:sp>
          <p:sp>
            <p:nvSpPr>
              <p:cNvPr id="317" name="Une couverture nationale">
                <a:extLst>
                  <a:ext uri="{FF2B5EF4-FFF2-40B4-BE49-F238E27FC236}">
                    <a16:creationId xmlns:a16="http://schemas.microsoft.com/office/drawing/2014/main" id="{1E002653-DD09-F4CF-32D6-DB327B9E33B4}"/>
                  </a:ext>
                </a:extLst>
              </p:cNvPr>
              <p:cNvSpPr txBox="1"/>
              <p:nvPr/>
            </p:nvSpPr>
            <p:spPr>
              <a:xfrm>
                <a:off x="0" y="88615"/>
                <a:ext cx="9906000" cy="5847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>
                  <a:defRPr sz="3200" b="1">
                    <a:solidFill>
                      <a:srgbClr val="FFFFFF"/>
                    </a:solidFill>
                    <a:latin typeface="Comfortaa"/>
                    <a:ea typeface="Comfortaa"/>
                    <a:cs typeface="Comfortaa"/>
                    <a:sym typeface="Comfortaa"/>
                  </a:defRPr>
                </a:lvl1pPr>
              </a:lstStyle>
              <a:p>
                <a:r>
                  <a:rPr lang="fr-FR" dirty="0"/>
                  <a:t>  HELP CONFORT À FÊTÉ SES 25 ANS EN 2025</a:t>
                </a:r>
                <a:endParaRPr dirty="0"/>
              </a:p>
            </p:txBody>
          </p:sp>
        </p:grpSp>
        <p:pic>
          <p:nvPicPr>
            <p:cNvPr id="319" name="Image 16" descr="Image 16">
              <a:extLst>
                <a:ext uri="{FF2B5EF4-FFF2-40B4-BE49-F238E27FC236}">
                  <a16:creationId xmlns:a16="http://schemas.microsoft.com/office/drawing/2014/main" id="{9AAB8B3C-BE56-2A7B-677F-61B4C4492B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94238" y="0"/>
              <a:ext cx="1229271" cy="86939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ZoneTexte 2">
            <a:extLst>
              <a:ext uri="{FF2B5EF4-FFF2-40B4-BE49-F238E27FC236}">
                <a16:creationId xmlns:a16="http://schemas.microsoft.com/office/drawing/2014/main" id="{823BB69B-7B8D-F8DD-6422-D07FBFEB9872}"/>
              </a:ext>
            </a:extLst>
          </p:cNvPr>
          <p:cNvSpPr txBox="1"/>
          <p:nvPr/>
        </p:nvSpPr>
        <p:spPr>
          <a:xfrm>
            <a:off x="208547" y="1316562"/>
            <a:ext cx="8385691" cy="20313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endParaRPr lang="fr-FR" b="1" dirty="0">
              <a:solidFill>
                <a:srgbClr val="0070C0"/>
              </a:solidFill>
            </a:endParaRPr>
          </a:p>
          <a:p>
            <a:pPr marL="285750" indent="-285750">
              <a:buFontTx/>
              <a:buChar char="-"/>
            </a:pPr>
            <a:endParaRPr lang="fr-FR" dirty="0">
              <a:solidFill>
                <a:srgbClr val="0070C0"/>
              </a:solidFill>
            </a:endParaRPr>
          </a:p>
          <a:p>
            <a:endParaRPr lang="fr-FR" b="1" i="1" u="sng" dirty="0">
              <a:solidFill>
                <a:srgbClr val="FF0000"/>
              </a:solidFill>
            </a:endParaRPr>
          </a:p>
          <a:p>
            <a:endParaRPr lang="fr-FR" b="1" i="1" u="sng" dirty="0">
              <a:solidFill>
                <a:srgbClr val="FF0000"/>
              </a:solidFill>
            </a:endParaRPr>
          </a:p>
          <a:p>
            <a:r>
              <a:rPr lang="fr-FR" b="1" dirty="0">
                <a:solidFill>
                  <a:srgbClr val="FF0000"/>
                </a:solidFill>
              </a:rPr>
              <a:t> </a:t>
            </a:r>
            <a:br>
              <a:rPr lang="fr-FR" b="1" dirty="0">
                <a:solidFill>
                  <a:srgbClr val="0070C0"/>
                </a:solidFill>
              </a:rPr>
            </a:br>
            <a:endParaRPr lang="fr-FR" b="1" dirty="0">
              <a:solidFill>
                <a:srgbClr val="0070C0"/>
              </a:solidFill>
            </a:endParaRPr>
          </a:p>
          <a:p>
            <a:endParaRPr lang="fr-FR" b="1" dirty="0">
              <a:solidFill>
                <a:srgbClr val="0070C0"/>
              </a:solidFill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538EDA41-9F3D-5803-F761-58D5F47AC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38" y="815631"/>
            <a:ext cx="77724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11732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396AD-43FB-918B-046D-7D78AEEDD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0" name="Groupe 14">
            <a:extLst>
              <a:ext uri="{FF2B5EF4-FFF2-40B4-BE49-F238E27FC236}">
                <a16:creationId xmlns:a16="http://schemas.microsoft.com/office/drawing/2014/main" id="{5CAEF268-D690-9821-C982-AB5EF2388139}"/>
              </a:ext>
            </a:extLst>
          </p:cNvPr>
          <p:cNvGrpSpPr/>
          <p:nvPr/>
        </p:nvGrpSpPr>
        <p:grpSpPr>
          <a:xfrm>
            <a:off x="0" y="-53761"/>
            <a:ext cx="9906000" cy="869392"/>
            <a:chOff x="0" y="0"/>
            <a:chExt cx="9906000" cy="869390"/>
          </a:xfrm>
        </p:grpSpPr>
        <p:grpSp>
          <p:nvGrpSpPr>
            <p:cNvPr id="318" name="Rectangle 15">
              <a:extLst>
                <a:ext uri="{FF2B5EF4-FFF2-40B4-BE49-F238E27FC236}">
                  <a16:creationId xmlns:a16="http://schemas.microsoft.com/office/drawing/2014/main" id="{A7EF9518-CCF6-C1EB-9963-3FEC0A88BD91}"/>
                </a:ext>
              </a:extLst>
            </p:cNvPr>
            <p:cNvGrpSpPr/>
            <p:nvPr/>
          </p:nvGrpSpPr>
          <p:grpSpPr>
            <a:xfrm>
              <a:off x="0" y="71492"/>
              <a:ext cx="9906000" cy="762003"/>
              <a:chOff x="0" y="-1"/>
              <a:chExt cx="9906000" cy="762001"/>
            </a:xfrm>
          </p:grpSpPr>
          <p:sp>
            <p:nvSpPr>
              <p:cNvPr id="316" name="Rectangle">
                <a:extLst>
                  <a:ext uri="{FF2B5EF4-FFF2-40B4-BE49-F238E27FC236}">
                    <a16:creationId xmlns:a16="http://schemas.microsoft.com/office/drawing/2014/main" id="{FE55D7CA-EF05-C771-A9A8-966C42BE3D62}"/>
                  </a:ext>
                </a:extLst>
              </p:cNvPr>
              <p:cNvSpPr/>
              <p:nvPr/>
            </p:nvSpPr>
            <p:spPr>
              <a:xfrm>
                <a:off x="0" y="-1"/>
                <a:ext cx="9906000" cy="762001"/>
              </a:xfrm>
              <a:prstGeom prst="rect">
                <a:avLst/>
              </a:prstGeom>
              <a:solidFill>
                <a:srgbClr val="008DD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 b="1">
                    <a:solidFill>
                      <a:srgbClr val="FFFFFF"/>
                    </a:solidFill>
                    <a:latin typeface="Comfortaa"/>
                    <a:ea typeface="Comfortaa"/>
                    <a:cs typeface="Comfortaa"/>
                    <a:sym typeface="Comfortaa"/>
                  </a:defRPr>
                </a:pPr>
                <a:endParaRPr/>
              </a:p>
            </p:txBody>
          </p:sp>
          <p:sp>
            <p:nvSpPr>
              <p:cNvPr id="317" name="Une couverture nationale">
                <a:extLst>
                  <a:ext uri="{FF2B5EF4-FFF2-40B4-BE49-F238E27FC236}">
                    <a16:creationId xmlns:a16="http://schemas.microsoft.com/office/drawing/2014/main" id="{D9D9ED10-EA22-7794-7C18-7BC7A1FB3F75}"/>
                  </a:ext>
                </a:extLst>
              </p:cNvPr>
              <p:cNvSpPr txBox="1"/>
              <p:nvPr/>
            </p:nvSpPr>
            <p:spPr>
              <a:xfrm>
                <a:off x="0" y="88615"/>
                <a:ext cx="9906000" cy="5847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>
                  <a:defRPr sz="3200" b="1">
                    <a:solidFill>
                      <a:srgbClr val="FFFFFF"/>
                    </a:solidFill>
                    <a:latin typeface="Comfortaa"/>
                    <a:ea typeface="Comfortaa"/>
                    <a:cs typeface="Comfortaa"/>
                    <a:sym typeface="Comfortaa"/>
                  </a:defRPr>
                </a:lvl1pPr>
              </a:lstStyle>
              <a:p>
                <a:r>
                  <a:rPr lang="fr-FR" dirty="0"/>
                  <a:t>  </a:t>
                </a:r>
                <a:endParaRPr dirty="0"/>
              </a:p>
            </p:txBody>
          </p:sp>
        </p:grpSp>
        <p:pic>
          <p:nvPicPr>
            <p:cNvPr id="319" name="Image 16" descr="Image 16">
              <a:extLst>
                <a:ext uri="{FF2B5EF4-FFF2-40B4-BE49-F238E27FC236}">
                  <a16:creationId xmlns:a16="http://schemas.microsoft.com/office/drawing/2014/main" id="{977CE1EF-AFF0-78F5-99DD-DFE32C390E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94238" y="0"/>
              <a:ext cx="1229271" cy="86939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ZoneTexte 2">
            <a:extLst>
              <a:ext uri="{FF2B5EF4-FFF2-40B4-BE49-F238E27FC236}">
                <a16:creationId xmlns:a16="http://schemas.microsoft.com/office/drawing/2014/main" id="{B436CE10-97CD-9E64-384F-B5DD499D60B6}"/>
              </a:ext>
            </a:extLst>
          </p:cNvPr>
          <p:cNvSpPr txBox="1"/>
          <p:nvPr/>
        </p:nvSpPr>
        <p:spPr>
          <a:xfrm>
            <a:off x="208547" y="1316562"/>
            <a:ext cx="8385691" cy="50783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endParaRPr lang="fr-FR" dirty="0">
              <a:solidFill>
                <a:srgbClr val="0070C0"/>
              </a:solidFill>
            </a:endParaRPr>
          </a:p>
          <a:p>
            <a:pPr marL="285750" indent="-285750">
              <a:buFontTx/>
              <a:buChar char="-"/>
            </a:pPr>
            <a:endParaRPr lang="fr-FR" dirty="0">
              <a:solidFill>
                <a:srgbClr val="0070C0"/>
              </a:solidFill>
            </a:endParaRPr>
          </a:p>
          <a:p>
            <a:endParaRPr lang="fr-FR" b="1" i="1" u="sng" dirty="0">
              <a:solidFill>
                <a:srgbClr val="FF0000"/>
              </a:solidFill>
            </a:endParaRPr>
          </a:p>
          <a:p>
            <a:r>
              <a:rPr lang="fr-FR" b="1" dirty="0">
                <a:solidFill>
                  <a:srgbClr val="0070C0"/>
                </a:solidFill>
              </a:rPr>
              <a:t>Notre mission</a:t>
            </a:r>
          </a:p>
          <a:p>
            <a:r>
              <a:rPr lang="fr-FR" dirty="0">
                <a:solidFill>
                  <a:srgbClr val="0070C0"/>
                </a:solidFill>
              </a:rPr>
              <a:t>Accompagner nos partenaires avec des interventions rapides, un suivi transparent et des solutions complètes en dépannage et amélioration de l’habitat.</a:t>
            </a:r>
          </a:p>
          <a:p>
            <a:br>
              <a:rPr lang="fr-FR" dirty="0">
                <a:solidFill>
                  <a:srgbClr val="0070C0"/>
                </a:solidFill>
              </a:rPr>
            </a:br>
            <a:endParaRPr lang="fr-FR" dirty="0">
              <a:solidFill>
                <a:srgbClr val="0070C0"/>
              </a:solidFill>
            </a:endParaRPr>
          </a:p>
          <a:p>
            <a:r>
              <a:rPr lang="fr-FR" b="1" dirty="0">
                <a:solidFill>
                  <a:srgbClr val="0070C0"/>
                </a:solidFill>
              </a:rPr>
              <a:t>Nos engagements</a:t>
            </a:r>
          </a:p>
          <a:p>
            <a:r>
              <a:rPr lang="fr-FR" dirty="0">
                <a:solidFill>
                  <a:srgbClr val="0070C0"/>
                </a:solidFill>
              </a:rPr>
              <a:t>📝 </a:t>
            </a:r>
            <a:r>
              <a:rPr lang="fr-FR" b="1" dirty="0">
                <a:solidFill>
                  <a:srgbClr val="0070C0"/>
                </a:solidFill>
              </a:rPr>
              <a:t>Devis gratuits</a:t>
            </a:r>
            <a:br>
              <a:rPr lang="fr-FR" dirty="0">
                <a:solidFill>
                  <a:srgbClr val="0070C0"/>
                </a:solidFill>
              </a:rPr>
            </a:br>
            <a:r>
              <a:rPr lang="fr-FR" dirty="0">
                <a:solidFill>
                  <a:srgbClr val="0070C0"/>
                </a:solidFill>
              </a:rPr>
              <a:t>🔑 </a:t>
            </a:r>
            <a:r>
              <a:rPr lang="fr-FR" b="1" dirty="0">
                <a:solidFill>
                  <a:srgbClr val="0070C0"/>
                </a:solidFill>
              </a:rPr>
              <a:t>Récupération des clés en agence si besoin</a:t>
            </a:r>
            <a:br>
              <a:rPr lang="fr-FR" dirty="0">
                <a:solidFill>
                  <a:srgbClr val="0070C0"/>
                </a:solidFill>
              </a:rPr>
            </a:br>
            <a:r>
              <a:rPr lang="fr-FR" dirty="0">
                <a:solidFill>
                  <a:srgbClr val="0070C0"/>
                </a:solidFill>
              </a:rPr>
              <a:t>⏱ </a:t>
            </a:r>
            <a:r>
              <a:rPr lang="fr-FR" b="1" dirty="0">
                <a:solidFill>
                  <a:srgbClr val="0070C0"/>
                </a:solidFill>
              </a:rPr>
              <a:t>Délais de réponse rapides</a:t>
            </a:r>
            <a:br>
              <a:rPr lang="fr-FR" dirty="0">
                <a:solidFill>
                  <a:srgbClr val="0070C0"/>
                </a:solidFill>
              </a:rPr>
            </a:br>
            <a:r>
              <a:rPr lang="fr-FR" dirty="0">
                <a:solidFill>
                  <a:srgbClr val="0070C0"/>
                </a:solidFill>
              </a:rPr>
              <a:t>📩 </a:t>
            </a:r>
            <a:r>
              <a:rPr lang="fr-FR" b="1" dirty="0">
                <a:solidFill>
                  <a:srgbClr val="0070C0"/>
                </a:solidFill>
              </a:rPr>
              <a:t>Étude attentive de chaque demande</a:t>
            </a:r>
            <a:endParaRPr lang="fr-FR" dirty="0">
              <a:solidFill>
                <a:srgbClr val="0070C0"/>
              </a:solidFill>
            </a:endParaRPr>
          </a:p>
          <a:p>
            <a:endParaRPr lang="fr-FR" b="1" i="1" u="sng" dirty="0">
              <a:solidFill>
                <a:srgbClr val="0070C0"/>
              </a:solidFill>
            </a:endParaRPr>
          </a:p>
          <a:p>
            <a:r>
              <a:rPr lang="fr-FR" b="1" dirty="0">
                <a:solidFill>
                  <a:srgbClr val="FF0000"/>
                </a:solidFill>
              </a:rPr>
              <a:t> </a:t>
            </a:r>
            <a:br>
              <a:rPr lang="fr-FR" b="1" dirty="0">
                <a:solidFill>
                  <a:srgbClr val="0070C0"/>
                </a:solidFill>
              </a:rPr>
            </a:br>
            <a:endParaRPr lang="fr-FR" b="1" dirty="0">
              <a:solidFill>
                <a:srgbClr val="0070C0"/>
              </a:solidFill>
            </a:endParaRPr>
          </a:p>
          <a:p>
            <a:endParaRPr lang="fr-FR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165896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010D7-DFEB-0C6F-2421-BDF889CB0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0" name="Groupe 14">
            <a:extLst>
              <a:ext uri="{FF2B5EF4-FFF2-40B4-BE49-F238E27FC236}">
                <a16:creationId xmlns:a16="http://schemas.microsoft.com/office/drawing/2014/main" id="{4EBDD7DB-6E51-F7F3-EF97-41A77C79ACA7}"/>
              </a:ext>
            </a:extLst>
          </p:cNvPr>
          <p:cNvGrpSpPr/>
          <p:nvPr/>
        </p:nvGrpSpPr>
        <p:grpSpPr>
          <a:xfrm>
            <a:off x="0" y="-106482"/>
            <a:ext cx="9906000" cy="869392"/>
            <a:chOff x="0" y="0"/>
            <a:chExt cx="9906000" cy="869390"/>
          </a:xfrm>
        </p:grpSpPr>
        <p:grpSp>
          <p:nvGrpSpPr>
            <p:cNvPr id="318" name="Rectangle 15">
              <a:extLst>
                <a:ext uri="{FF2B5EF4-FFF2-40B4-BE49-F238E27FC236}">
                  <a16:creationId xmlns:a16="http://schemas.microsoft.com/office/drawing/2014/main" id="{51FC92A2-CFE2-1AC0-2188-65E097AA948E}"/>
                </a:ext>
              </a:extLst>
            </p:cNvPr>
            <p:cNvGrpSpPr/>
            <p:nvPr/>
          </p:nvGrpSpPr>
          <p:grpSpPr>
            <a:xfrm>
              <a:off x="0" y="71492"/>
              <a:ext cx="9906000" cy="762003"/>
              <a:chOff x="0" y="-1"/>
              <a:chExt cx="9906000" cy="762001"/>
            </a:xfrm>
          </p:grpSpPr>
          <p:sp>
            <p:nvSpPr>
              <p:cNvPr id="316" name="Rectangle">
                <a:extLst>
                  <a:ext uri="{FF2B5EF4-FFF2-40B4-BE49-F238E27FC236}">
                    <a16:creationId xmlns:a16="http://schemas.microsoft.com/office/drawing/2014/main" id="{86D581C8-1F98-0E4D-A4ED-BFFF3BE95E84}"/>
                  </a:ext>
                </a:extLst>
              </p:cNvPr>
              <p:cNvSpPr/>
              <p:nvPr/>
            </p:nvSpPr>
            <p:spPr>
              <a:xfrm>
                <a:off x="0" y="-1"/>
                <a:ext cx="9906000" cy="762001"/>
              </a:xfrm>
              <a:prstGeom prst="rect">
                <a:avLst/>
              </a:prstGeom>
              <a:solidFill>
                <a:srgbClr val="008DD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 b="1">
                    <a:solidFill>
                      <a:srgbClr val="FFFFFF"/>
                    </a:solidFill>
                    <a:latin typeface="Comfortaa"/>
                    <a:ea typeface="Comfortaa"/>
                    <a:cs typeface="Comfortaa"/>
                    <a:sym typeface="Comfortaa"/>
                  </a:defRPr>
                </a:pPr>
                <a:endParaRPr/>
              </a:p>
            </p:txBody>
          </p:sp>
          <p:sp>
            <p:nvSpPr>
              <p:cNvPr id="317" name="Une couverture nationale">
                <a:extLst>
                  <a:ext uri="{FF2B5EF4-FFF2-40B4-BE49-F238E27FC236}">
                    <a16:creationId xmlns:a16="http://schemas.microsoft.com/office/drawing/2014/main" id="{83DBD777-C17D-D790-241B-D00AA9052432}"/>
                  </a:ext>
                </a:extLst>
              </p:cNvPr>
              <p:cNvSpPr txBox="1"/>
              <p:nvPr/>
            </p:nvSpPr>
            <p:spPr>
              <a:xfrm>
                <a:off x="0" y="88615"/>
                <a:ext cx="9906000" cy="5847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>
                  <a:defRPr sz="3200" b="1">
                    <a:solidFill>
                      <a:srgbClr val="FFFFFF"/>
                    </a:solidFill>
                    <a:latin typeface="Comfortaa"/>
                    <a:ea typeface="Comfortaa"/>
                    <a:cs typeface="Comfortaa"/>
                    <a:sym typeface="Comfortaa"/>
                  </a:defRPr>
                </a:lvl1pPr>
              </a:lstStyle>
              <a:p>
                <a:r>
                  <a:rPr lang="fr-FR" dirty="0"/>
                  <a:t>  </a:t>
                </a:r>
                <a:endParaRPr dirty="0"/>
              </a:p>
            </p:txBody>
          </p:sp>
        </p:grpSp>
        <p:pic>
          <p:nvPicPr>
            <p:cNvPr id="319" name="Image 16" descr="Image 16">
              <a:extLst>
                <a:ext uri="{FF2B5EF4-FFF2-40B4-BE49-F238E27FC236}">
                  <a16:creationId xmlns:a16="http://schemas.microsoft.com/office/drawing/2014/main" id="{8EF8D310-CDDA-E691-77D6-09609114BA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94238" y="0"/>
              <a:ext cx="1229271" cy="86939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ZoneTexte 2">
            <a:extLst>
              <a:ext uri="{FF2B5EF4-FFF2-40B4-BE49-F238E27FC236}">
                <a16:creationId xmlns:a16="http://schemas.microsoft.com/office/drawing/2014/main" id="{0F8E7426-8453-CE04-0FE2-16EBF8A30E14}"/>
              </a:ext>
            </a:extLst>
          </p:cNvPr>
          <p:cNvSpPr txBox="1"/>
          <p:nvPr/>
        </p:nvSpPr>
        <p:spPr>
          <a:xfrm>
            <a:off x="208547" y="1316562"/>
            <a:ext cx="8385691" cy="452431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fr-FR" b="1" u="sng" dirty="0">
                <a:solidFill>
                  <a:srgbClr val="0070C0"/>
                </a:solidFill>
              </a:rPr>
              <a:t>Nos compétences multi-métiers</a:t>
            </a:r>
          </a:p>
          <a:p>
            <a:endParaRPr lang="fr-FR" b="1" u="sng" dirty="0">
              <a:solidFill>
                <a:srgbClr val="0070C0"/>
              </a:solidFill>
            </a:endParaRPr>
          </a:p>
          <a:p>
            <a:r>
              <a:rPr lang="fr-FR" b="1" dirty="0">
                <a:solidFill>
                  <a:srgbClr val="0070C0"/>
                </a:solidFill>
              </a:rPr>
              <a:t>🔧 Menuiserie – Bois / PVC / Aluminium</a:t>
            </a:r>
          </a:p>
          <a:p>
            <a:r>
              <a:rPr lang="fr-FR" dirty="0">
                <a:solidFill>
                  <a:srgbClr val="0070C0"/>
                </a:solidFill>
              </a:rPr>
              <a:t>Volets roulants : manuel, motorisé, solaire</a:t>
            </a:r>
          </a:p>
          <a:p>
            <a:r>
              <a:rPr lang="fr-FR" dirty="0">
                <a:solidFill>
                  <a:srgbClr val="0070C0"/>
                </a:solidFill>
              </a:rPr>
              <a:t>Parquet &amp; revêtement PVC</a:t>
            </a:r>
          </a:p>
          <a:p>
            <a:r>
              <a:rPr lang="fr-FR" dirty="0">
                <a:solidFill>
                  <a:srgbClr val="0070C0"/>
                </a:solidFill>
              </a:rPr>
              <a:t>Portes, portes-fenêtres, portails</a:t>
            </a:r>
          </a:p>
          <a:p>
            <a:r>
              <a:rPr lang="fr-FR" dirty="0">
                <a:solidFill>
                  <a:srgbClr val="0070C0"/>
                </a:solidFill>
              </a:rPr>
              <a:t>Vitrerie (simple / double vitrage, remplacement)</a:t>
            </a:r>
          </a:p>
          <a:p>
            <a:r>
              <a:rPr lang="fr-FR" dirty="0">
                <a:solidFill>
                  <a:srgbClr val="0070C0"/>
                </a:solidFill>
              </a:rPr>
              <a:t>Boîtes aux lettres, terrasses, cuisines</a:t>
            </a:r>
          </a:p>
          <a:p>
            <a:endParaRPr lang="fr-FR" b="1" dirty="0">
              <a:solidFill>
                <a:srgbClr val="0070C0"/>
              </a:solidFill>
            </a:endParaRPr>
          </a:p>
          <a:p>
            <a:endParaRPr lang="fr-FR" b="1" dirty="0">
              <a:solidFill>
                <a:srgbClr val="0070C0"/>
              </a:solidFill>
            </a:endParaRPr>
          </a:p>
          <a:p>
            <a:r>
              <a:rPr lang="fr-FR" b="1" dirty="0">
                <a:solidFill>
                  <a:srgbClr val="0070C0"/>
                </a:solidFill>
              </a:rPr>
              <a:t>🚰 Plomberie / Chauffage</a:t>
            </a:r>
          </a:p>
          <a:p>
            <a:r>
              <a:rPr lang="fr-FR" dirty="0">
                <a:solidFill>
                  <a:srgbClr val="0070C0"/>
                </a:solidFill>
              </a:rPr>
              <a:t>Cumulus &amp; chauffe-eau</a:t>
            </a:r>
          </a:p>
          <a:p>
            <a:r>
              <a:rPr lang="fr-FR" dirty="0">
                <a:solidFill>
                  <a:srgbClr val="0070C0"/>
                </a:solidFill>
              </a:rPr>
              <a:t>Bac à douche &amp; transformation baignoire en douche</a:t>
            </a:r>
          </a:p>
          <a:p>
            <a:r>
              <a:rPr lang="fr-FR" dirty="0">
                <a:solidFill>
                  <a:srgbClr val="0070C0"/>
                </a:solidFill>
              </a:rPr>
              <a:t>Recherche et réparation de fuites (intérieur / extérieur)</a:t>
            </a:r>
          </a:p>
          <a:p>
            <a:r>
              <a:rPr lang="fr-FR" dirty="0">
                <a:solidFill>
                  <a:srgbClr val="0070C0"/>
                </a:solidFill>
              </a:rPr>
              <a:t>WC, mitigeurs, évier, vasque, accessoires salle de bain et cuisine</a:t>
            </a:r>
          </a:p>
          <a:p>
            <a:r>
              <a:rPr lang="fr-FR" dirty="0">
                <a:solidFill>
                  <a:srgbClr val="0070C0"/>
                </a:solidFill>
              </a:rPr>
              <a:t>Chauffage et installations diverses</a:t>
            </a:r>
          </a:p>
        </p:txBody>
      </p:sp>
    </p:spTree>
    <p:extLst>
      <p:ext uri="{BB962C8B-B14F-4D97-AF65-F5344CB8AC3E}">
        <p14:creationId xmlns:p14="http://schemas.microsoft.com/office/powerpoint/2010/main" val="135341369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CAF5C-C60F-C0EC-E7A4-EC5850D9C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0" name="Groupe 14">
            <a:extLst>
              <a:ext uri="{FF2B5EF4-FFF2-40B4-BE49-F238E27FC236}">
                <a16:creationId xmlns:a16="http://schemas.microsoft.com/office/drawing/2014/main" id="{11B359B3-06D4-5DE2-9F91-CFC34CB7255C}"/>
              </a:ext>
            </a:extLst>
          </p:cNvPr>
          <p:cNvGrpSpPr/>
          <p:nvPr/>
        </p:nvGrpSpPr>
        <p:grpSpPr>
          <a:xfrm>
            <a:off x="0" y="-106482"/>
            <a:ext cx="9906000" cy="869392"/>
            <a:chOff x="0" y="0"/>
            <a:chExt cx="9906000" cy="869390"/>
          </a:xfrm>
        </p:grpSpPr>
        <p:grpSp>
          <p:nvGrpSpPr>
            <p:cNvPr id="318" name="Rectangle 15">
              <a:extLst>
                <a:ext uri="{FF2B5EF4-FFF2-40B4-BE49-F238E27FC236}">
                  <a16:creationId xmlns:a16="http://schemas.microsoft.com/office/drawing/2014/main" id="{66026C86-7AFA-46D5-C3FD-B8192A0017F1}"/>
                </a:ext>
              </a:extLst>
            </p:cNvPr>
            <p:cNvGrpSpPr/>
            <p:nvPr/>
          </p:nvGrpSpPr>
          <p:grpSpPr>
            <a:xfrm>
              <a:off x="0" y="71492"/>
              <a:ext cx="9906000" cy="762003"/>
              <a:chOff x="0" y="-1"/>
              <a:chExt cx="9906000" cy="762001"/>
            </a:xfrm>
          </p:grpSpPr>
          <p:sp>
            <p:nvSpPr>
              <p:cNvPr id="316" name="Rectangle">
                <a:extLst>
                  <a:ext uri="{FF2B5EF4-FFF2-40B4-BE49-F238E27FC236}">
                    <a16:creationId xmlns:a16="http://schemas.microsoft.com/office/drawing/2014/main" id="{8F1C5C6D-1F8C-6FA8-6ED9-F573370C6B04}"/>
                  </a:ext>
                </a:extLst>
              </p:cNvPr>
              <p:cNvSpPr/>
              <p:nvPr/>
            </p:nvSpPr>
            <p:spPr>
              <a:xfrm>
                <a:off x="0" y="-1"/>
                <a:ext cx="9906000" cy="762001"/>
              </a:xfrm>
              <a:prstGeom prst="rect">
                <a:avLst/>
              </a:prstGeom>
              <a:solidFill>
                <a:srgbClr val="008DD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 b="1">
                    <a:solidFill>
                      <a:srgbClr val="FFFFFF"/>
                    </a:solidFill>
                    <a:latin typeface="Comfortaa"/>
                    <a:ea typeface="Comfortaa"/>
                    <a:cs typeface="Comfortaa"/>
                    <a:sym typeface="Comfortaa"/>
                  </a:defRPr>
                </a:pPr>
                <a:endParaRPr/>
              </a:p>
            </p:txBody>
          </p:sp>
          <p:sp>
            <p:nvSpPr>
              <p:cNvPr id="317" name="Une couverture nationale">
                <a:extLst>
                  <a:ext uri="{FF2B5EF4-FFF2-40B4-BE49-F238E27FC236}">
                    <a16:creationId xmlns:a16="http://schemas.microsoft.com/office/drawing/2014/main" id="{DA9C5047-E989-A3B1-8AFC-78349D98D620}"/>
                  </a:ext>
                </a:extLst>
              </p:cNvPr>
              <p:cNvSpPr txBox="1"/>
              <p:nvPr/>
            </p:nvSpPr>
            <p:spPr>
              <a:xfrm>
                <a:off x="0" y="88615"/>
                <a:ext cx="9906000" cy="5847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>
                  <a:defRPr sz="3200" b="1">
                    <a:solidFill>
                      <a:srgbClr val="FFFFFF"/>
                    </a:solidFill>
                    <a:latin typeface="Comfortaa"/>
                    <a:ea typeface="Comfortaa"/>
                    <a:cs typeface="Comfortaa"/>
                    <a:sym typeface="Comfortaa"/>
                  </a:defRPr>
                </a:lvl1pPr>
              </a:lstStyle>
              <a:p>
                <a:r>
                  <a:rPr lang="fr-FR" dirty="0"/>
                  <a:t>  </a:t>
                </a:r>
                <a:endParaRPr dirty="0"/>
              </a:p>
            </p:txBody>
          </p:sp>
        </p:grpSp>
        <p:pic>
          <p:nvPicPr>
            <p:cNvPr id="319" name="Image 16" descr="Image 16">
              <a:extLst>
                <a:ext uri="{FF2B5EF4-FFF2-40B4-BE49-F238E27FC236}">
                  <a16:creationId xmlns:a16="http://schemas.microsoft.com/office/drawing/2014/main" id="{0A1556ED-7994-0304-24D5-7481AE5D7E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94238" y="0"/>
              <a:ext cx="1229271" cy="86939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ZoneTexte 2">
            <a:extLst>
              <a:ext uri="{FF2B5EF4-FFF2-40B4-BE49-F238E27FC236}">
                <a16:creationId xmlns:a16="http://schemas.microsoft.com/office/drawing/2014/main" id="{081E7EC6-A91C-3E99-9E20-329D7F2DF143}"/>
              </a:ext>
            </a:extLst>
          </p:cNvPr>
          <p:cNvSpPr txBox="1"/>
          <p:nvPr/>
        </p:nvSpPr>
        <p:spPr>
          <a:xfrm>
            <a:off x="208547" y="1316562"/>
            <a:ext cx="8385691" cy="452431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fr-FR" b="1" dirty="0">
                <a:solidFill>
                  <a:srgbClr val="0070C0"/>
                </a:solidFill>
              </a:rPr>
              <a:t>⚡ Électricité</a:t>
            </a:r>
          </a:p>
          <a:p>
            <a:r>
              <a:rPr lang="fr-FR" dirty="0">
                <a:solidFill>
                  <a:srgbClr val="0070C0"/>
                </a:solidFill>
              </a:rPr>
              <a:t>Recherche de panne, diagnostic &amp; réparation</a:t>
            </a:r>
          </a:p>
          <a:p>
            <a:r>
              <a:rPr lang="fr-FR" dirty="0">
                <a:solidFill>
                  <a:srgbClr val="0070C0"/>
                </a:solidFill>
              </a:rPr>
              <a:t>Installation circuits électriques</a:t>
            </a:r>
          </a:p>
          <a:p>
            <a:r>
              <a:rPr lang="fr-FR" dirty="0">
                <a:solidFill>
                  <a:srgbClr val="0070C0"/>
                </a:solidFill>
              </a:rPr>
              <a:t>Accessoires d’éclairage, luminaires</a:t>
            </a:r>
          </a:p>
          <a:p>
            <a:r>
              <a:rPr lang="fr-FR" dirty="0">
                <a:solidFill>
                  <a:srgbClr val="0070C0"/>
                </a:solidFill>
              </a:rPr>
              <a:t>Réglage horloges de parking</a:t>
            </a:r>
          </a:p>
          <a:p>
            <a:endParaRPr lang="fr-FR" b="1" dirty="0">
              <a:solidFill>
                <a:srgbClr val="0070C0"/>
              </a:solidFill>
            </a:endParaRPr>
          </a:p>
          <a:p>
            <a:r>
              <a:rPr lang="fr-FR" b="1" dirty="0">
                <a:solidFill>
                  <a:srgbClr val="0070C0"/>
                </a:solidFill>
              </a:rPr>
              <a:t>🎨 Plaquiste / Peinture</a:t>
            </a:r>
          </a:p>
          <a:p>
            <a:r>
              <a:rPr lang="fr-FR" dirty="0">
                <a:solidFill>
                  <a:srgbClr val="0070C0"/>
                </a:solidFill>
              </a:rPr>
              <a:t>Embellissement après sortie de locataire</a:t>
            </a:r>
          </a:p>
          <a:p>
            <a:r>
              <a:rPr lang="fr-FR" dirty="0">
                <a:solidFill>
                  <a:srgbClr val="0070C0"/>
                </a:solidFill>
              </a:rPr>
              <a:t>Travaux après dégâts des eaux</a:t>
            </a:r>
          </a:p>
          <a:p>
            <a:r>
              <a:rPr lang="fr-FR" dirty="0">
                <a:solidFill>
                  <a:srgbClr val="0070C0"/>
                </a:solidFill>
              </a:rPr>
              <a:t>Peinture, placo</a:t>
            </a:r>
          </a:p>
          <a:p>
            <a:endParaRPr lang="fr-FR" b="1" dirty="0">
              <a:solidFill>
                <a:srgbClr val="0070C0"/>
              </a:solidFill>
            </a:endParaRPr>
          </a:p>
          <a:p>
            <a:r>
              <a:rPr lang="fr-FR" b="1" dirty="0">
                <a:solidFill>
                  <a:srgbClr val="0070C0"/>
                </a:solidFill>
              </a:rPr>
              <a:t>Vidage de logement</a:t>
            </a:r>
            <a:r>
              <a:rPr lang="fr-FR" dirty="0">
                <a:solidFill>
                  <a:srgbClr val="0070C0"/>
                </a:solidFill>
              </a:rPr>
              <a:t> si nécessaire</a:t>
            </a:r>
          </a:p>
          <a:p>
            <a:r>
              <a:rPr lang="fr-FR" dirty="0">
                <a:solidFill>
                  <a:srgbClr val="0070C0"/>
                </a:solidFill>
              </a:rPr>
              <a:t>Réparations en parties communes</a:t>
            </a:r>
          </a:p>
          <a:p>
            <a:endParaRPr lang="fr-FR" b="1" dirty="0">
              <a:solidFill>
                <a:srgbClr val="0070C0"/>
              </a:solidFill>
            </a:endParaRPr>
          </a:p>
          <a:p>
            <a:r>
              <a:rPr lang="fr-FR" b="1" dirty="0">
                <a:solidFill>
                  <a:srgbClr val="0070C0"/>
                </a:solidFill>
              </a:rPr>
              <a:t>🔐 Serrurerie</a:t>
            </a:r>
          </a:p>
          <a:p>
            <a:r>
              <a:rPr lang="fr-FR" dirty="0">
                <a:solidFill>
                  <a:srgbClr val="0070C0"/>
                </a:solidFill>
              </a:rPr>
              <a:t>Portes, ouvrants, réparations, sécurisation</a:t>
            </a:r>
          </a:p>
        </p:txBody>
      </p:sp>
    </p:spTree>
    <p:extLst>
      <p:ext uri="{BB962C8B-B14F-4D97-AF65-F5344CB8AC3E}">
        <p14:creationId xmlns:p14="http://schemas.microsoft.com/office/powerpoint/2010/main" val="2866646776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112E0-BB5B-581A-12E2-9FE15176C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0" name="Groupe 14">
            <a:extLst>
              <a:ext uri="{FF2B5EF4-FFF2-40B4-BE49-F238E27FC236}">
                <a16:creationId xmlns:a16="http://schemas.microsoft.com/office/drawing/2014/main" id="{740C2B79-4725-6E07-47D0-EE634C62335C}"/>
              </a:ext>
            </a:extLst>
          </p:cNvPr>
          <p:cNvGrpSpPr/>
          <p:nvPr/>
        </p:nvGrpSpPr>
        <p:grpSpPr>
          <a:xfrm>
            <a:off x="0" y="-106482"/>
            <a:ext cx="9906000" cy="869392"/>
            <a:chOff x="0" y="0"/>
            <a:chExt cx="9906000" cy="869390"/>
          </a:xfrm>
        </p:grpSpPr>
        <p:grpSp>
          <p:nvGrpSpPr>
            <p:cNvPr id="318" name="Rectangle 15">
              <a:extLst>
                <a:ext uri="{FF2B5EF4-FFF2-40B4-BE49-F238E27FC236}">
                  <a16:creationId xmlns:a16="http://schemas.microsoft.com/office/drawing/2014/main" id="{3D36FAF0-4607-03DB-E29A-5AB2C79A543B}"/>
                </a:ext>
              </a:extLst>
            </p:cNvPr>
            <p:cNvGrpSpPr/>
            <p:nvPr/>
          </p:nvGrpSpPr>
          <p:grpSpPr>
            <a:xfrm>
              <a:off x="0" y="71492"/>
              <a:ext cx="9906000" cy="762003"/>
              <a:chOff x="0" y="-1"/>
              <a:chExt cx="9906000" cy="762001"/>
            </a:xfrm>
          </p:grpSpPr>
          <p:sp>
            <p:nvSpPr>
              <p:cNvPr id="316" name="Rectangle">
                <a:extLst>
                  <a:ext uri="{FF2B5EF4-FFF2-40B4-BE49-F238E27FC236}">
                    <a16:creationId xmlns:a16="http://schemas.microsoft.com/office/drawing/2014/main" id="{364B1F9B-D896-35D6-0359-31299B35A70D}"/>
                  </a:ext>
                </a:extLst>
              </p:cNvPr>
              <p:cNvSpPr/>
              <p:nvPr/>
            </p:nvSpPr>
            <p:spPr>
              <a:xfrm>
                <a:off x="0" y="-1"/>
                <a:ext cx="9906000" cy="762001"/>
              </a:xfrm>
              <a:prstGeom prst="rect">
                <a:avLst/>
              </a:prstGeom>
              <a:solidFill>
                <a:srgbClr val="008DD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 b="1">
                    <a:solidFill>
                      <a:srgbClr val="FFFFFF"/>
                    </a:solidFill>
                    <a:latin typeface="Comfortaa"/>
                    <a:ea typeface="Comfortaa"/>
                    <a:cs typeface="Comfortaa"/>
                    <a:sym typeface="Comfortaa"/>
                  </a:defRPr>
                </a:pPr>
                <a:endParaRPr/>
              </a:p>
            </p:txBody>
          </p:sp>
          <p:sp>
            <p:nvSpPr>
              <p:cNvPr id="317" name="Une couverture nationale">
                <a:extLst>
                  <a:ext uri="{FF2B5EF4-FFF2-40B4-BE49-F238E27FC236}">
                    <a16:creationId xmlns:a16="http://schemas.microsoft.com/office/drawing/2014/main" id="{FC331AD1-D2F6-D3DE-79F5-7608E24B6BBA}"/>
                  </a:ext>
                </a:extLst>
              </p:cNvPr>
              <p:cNvSpPr txBox="1"/>
              <p:nvPr/>
            </p:nvSpPr>
            <p:spPr>
              <a:xfrm>
                <a:off x="0" y="88615"/>
                <a:ext cx="9906000" cy="5847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>
                  <a:defRPr sz="3200" b="1">
                    <a:solidFill>
                      <a:srgbClr val="FFFFFF"/>
                    </a:solidFill>
                    <a:latin typeface="Comfortaa"/>
                    <a:ea typeface="Comfortaa"/>
                    <a:cs typeface="Comfortaa"/>
                    <a:sym typeface="Comfortaa"/>
                  </a:defRPr>
                </a:lvl1pPr>
              </a:lstStyle>
              <a:p>
                <a:r>
                  <a:rPr lang="fr-FR" dirty="0"/>
                  <a:t> </a:t>
                </a:r>
                <a:endParaRPr dirty="0"/>
              </a:p>
            </p:txBody>
          </p:sp>
        </p:grpSp>
        <p:pic>
          <p:nvPicPr>
            <p:cNvPr id="319" name="Image 16" descr="Image 16">
              <a:extLst>
                <a:ext uri="{FF2B5EF4-FFF2-40B4-BE49-F238E27FC236}">
                  <a16:creationId xmlns:a16="http://schemas.microsoft.com/office/drawing/2014/main" id="{B7E51C36-FC3A-B7EB-7FDE-E36C1BDB14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94238" y="0"/>
              <a:ext cx="1229271" cy="86939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ZoneTexte 2">
            <a:extLst>
              <a:ext uri="{FF2B5EF4-FFF2-40B4-BE49-F238E27FC236}">
                <a16:creationId xmlns:a16="http://schemas.microsoft.com/office/drawing/2014/main" id="{2150F7DE-3868-D6EA-A769-B8CFE303995D}"/>
              </a:ext>
            </a:extLst>
          </p:cNvPr>
          <p:cNvSpPr txBox="1"/>
          <p:nvPr/>
        </p:nvSpPr>
        <p:spPr>
          <a:xfrm>
            <a:off x="208547" y="1316562"/>
            <a:ext cx="8385691" cy="424731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endParaRPr lang="fr-FR" dirty="0">
              <a:solidFill>
                <a:srgbClr val="0070C0"/>
              </a:solidFill>
            </a:endParaRPr>
          </a:p>
          <a:p>
            <a:pPr marL="285750" indent="-285750">
              <a:buFontTx/>
              <a:buChar char="-"/>
            </a:pPr>
            <a:endParaRPr lang="fr-FR" dirty="0">
              <a:solidFill>
                <a:srgbClr val="0070C0"/>
              </a:solidFill>
            </a:endParaRPr>
          </a:p>
          <a:p>
            <a:r>
              <a:rPr lang="fr-FR" b="1" u="sng" dirty="0">
                <a:solidFill>
                  <a:srgbClr val="0070C0"/>
                </a:solidFill>
              </a:rPr>
              <a:t>Pourquoi travailler avec nous</a:t>
            </a:r>
          </a:p>
          <a:p>
            <a:endParaRPr lang="fr-FR" b="1" u="sng" dirty="0">
              <a:solidFill>
                <a:srgbClr val="0070C0"/>
              </a:solidFill>
            </a:endParaRPr>
          </a:p>
          <a:p>
            <a:endParaRPr lang="fr-FR" b="1" u="sng" dirty="0">
              <a:solidFill>
                <a:srgbClr val="0070C0"/>
              </a:solidFill>
            </a:endParaRPr>
          </a:p>
          <a:p>
            <a:r>
              <a:rPr lang="fr-FR" dirty="0">
                <a:solidFill>
                  <a:srgbClr val="0070C0"/>
                </a:solidFill>
              </a:rPr>
              <a:t>Rapidité d’exécution</a:t>
            </a:r>
          </a:p>
          <a:p>
            <a:r>
              <a:rPr lang="fr-FR" dirty="0">
                <a:solidFill>
                  <a:srgbClr val="0070C0"/>
                </a:solidFill>
              </a:rPr>
              <a:t>Meilleure valorisation des biens</a:t>
            </a:r>
          </a:p>
          <a:p>
            <a:r>
              <a:rPr lang="fr-FR" dirty="0">
                <a:solidFill>
                  <a:srgbClr val="0070C0"/>
                </a:solidFill>
              </a:rPr>
              <a:t>Gain de temps pour les agents</a:t>
            </a:r>
          </a:p>
          <a:p>
            <a:r>
              <a:rPr lang="fr-FR" dirty="0">
                <a:solidFill>
                  <a:srgbClr val="0070C0"/>
                </a:solidFill>
              </a:rPr>
              <a:t>Augmentation des contacts qualifiés</a:t>
            </a:r>
          </a:p>
          <a:p>
            <a:r>
              <a:rPr lang="fr-FR" dirty="0">
                <a:solidFill>
                  <a:srgbClr val="0070C0"/>
                </a:solidFill>
              </a:rPr>
              <a:t>Différenciation face à la concurrence</a:t>
            </a:r>
          </a:p>
          <a:p>
            <a:endParaRPr lang="fr-FR" b="1" i="1" u="sng" dirty="0">
              <a:solidFill>
                <a:srgbClr val="FF0000"/>
              </a:solidFill>
            </a:endParaRPr>
          </a:p>
          <a:p>
            <a:endParaRPr lang="fr-FR" b="1" i="1" u="sng" dirty="0">
              <a:solidFill>
                <a:srgbClr val="FF0000"/>
              </a:solidFill>
            </a:endParaRPr>
          </a:p>
          <a:p>
            <a:r>
              <a:rPr lang="fr-FR" b="1" dirty="0">
                <a:solidFill>
                  <a:srgbClr val="FF0000"/>
                </a:solidFill>
              </a:rPr>
              <a:t> </a:t>
            </a:r>
            <a:br>
              <a:rPr lang="fr-FR" b="1" dirty="0">
                <a:solidFill>
                  <a:srgbClr val="0070C0"/>
                </a:solidFill>
              </a:rPr>
            </a:br>
            <a:endParaRPr lang="fr-FR" b="1" dirty="0">
              <a:solidFill>
                <a:srgbClr val="0070C0"/>
              </a:solidFill>
            </a:endParaRPr>
          </a:p>
          <a:p>
            <a:endParaRPr lang="fr-FR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9582820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570B5-F26C-F803-2C3F-964D63358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0" name="Groupe 14">
            <a:extLst>
              <a:ext uri="{FF2B5EF4-FFF2-40B4-BE49-F238E27FC236}">
                <a16:creationId xmlns:a16="http://schemas.microsoft.com/office/drawing/2014/main" id="{4BAABAD6-D309-C545-54B9-FE413715FFA8}"/>
              </a:ext>
            </a:extLst>
          </p:cNvPr>
          <p:cNvGrpSpPr/>
          <p:nvPr/>
        </p:nvGrpSpPr>
        <p:grpSpPr>
          <a:xfrm>
            <a:off x="0" y="-106482"/>
            <a:ext cx="9906000" cy="869392"/>
            <a:chOff x="0" y="0"/>
            <a:chExt cx="9906000" cy="869390"/>
          </a:xfrm>
        </p:grpSpPr>
        <p:grpSp>
          <p:nvGrpSpPr>
            <p:cNvPr id="318" name="Rectangle 15">
              <a:extLst>
                <a:ext uri="{FF2B5EF4-FFF2-40B4-BE49-F238E27FC236}">
                  <a16:creationId xmlns:a16="http://schemas.microsoft.com/office/drawing/2014/main" id="{93AEA9C5-E1C6-32C9-CDF5-0F490D8C92D9}"/>
                </a:ext>
              </a:extLst>
            </p:cNvPr>
            <p:cNvGrpSpPr/>
            <p:nvPr/>
          </p:nvGrpSpPr>
          <p:grpSpPr>
            <a:xfrm>
              <a:off x="0" y="71492"/>
              <a:ext cx="9906000" cy="762003"/>
              <a:chOff x="0" y="-1"/>
              <a:chExt cx="9906000" cy="762001"/>
            </a:xfrm>
          </p:grpSpPr>
          <p:sp>
            <p:nvSpPr>
              <p:cNvPr id="316" name="Rectangle">
                <a:extLst>
                  <a:ext uri="{FF2B5EF4-FFF2-40B4-BE49-F238E27FC236}">
                    <a16:creationId xmlns:a16="http://schemas.microsoft.com/office/drawing/2014/main" id="{E1A1B6C9-F803-0D13-6B85-522D26B54C65}"/>
                  </a:ext>
                </a:extLst>
              </p:cNvPr>
              <p:cNvSpPr/>
              <p:nvPr/>
            </p:nvSpPr>
            <p:spPr>
              <a:xfrm>
                <a:off x="0" y="-1"/>
                <a:ext cx="9906000" cy="762001"/>
              </a:xfrm>
              <a:prstGeom prst="rect">
                <a:avLst/>
              </a:prstGeom>
              <a:solidFill>
                <a:srgbClr val="008DD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 b="1">
                    <a:solidFill>
                      <a:srgbClr val="FFFFFF"/>
                    </a:solidFill>
                    <a:latin typeface="Comfortaa"/>
                    <a:ea typeface="Comfortaa"/>
                    <a:cs typeface="Comfortaa"/>
                    <a:sym typeface="Comfortaa"/>
                  </a:defRPr>
                </a:pPr>
                <a:endParaRPr/>
              </a:p>
            </p:txBody>
          </p:sp>
          <p:sp>
            <p:nvSpPr>
              <p:cNvPr id="317" name="Une couverture nationale">
                <a:extLst>
                  <a:ext uri="{FF2B5EF4-FFF2-40B4-BE49-F238E27FC236}">
                    <a16:creationId xmlns:a16="http://schemas.microsoft.com/office/drawing/2014/main" id="{0B773CEC-B4BC-D19D-FF35-499773B132A1}"/>
                  </a:ext>
                </a:extLst>
              </p:cNvPr>
              <p:cNvSpPr txBox="1"/>
              <p:nvPr/>
            </p:nvSpPr>
            <p:spPr>
              <a:xfrm>
                <a:off x="0" y="88615"/>
                <a:ext cx="9906000" cy="5847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>
                  <a:defRPr sz="3200" b="1">
                    <a:solidFill>
                      <a:srgbClr val="FFFFFF"/>
                    </a:solidFill>
                    <a:latin typeface="Comfortaa"/>
                    <a:ea typeface="Comfortaa"/>
                    <a:cs typeface="Comfortaa"/>
                    <a:sym typeface="Comfortaa"/>
                  </a:defRPr>
                </a:lvl1pPr>
              </a:lstStyle>
              <a:p>
                <a:r>
                  <a:rPr lang="fr-FR" dirty="0"/>
                  <a:t>  </a:t>
                </a:r>
                <a:endParaRPr dirty="0"/>
              </a:p>
            </p:txBody>
          </p:sp>
        </p:grpSp>
        <p:pic>
          <p:nvPicPr>
            <p:cNvPr id="319" name="Image 16" descr="Image 16">
              <a:extLst>
                <a:ext uri="{FF2B5EF4-FFF2-40B4-BE49-F238E27FC236}">
                  <a16:creationId xmlns:a16="http://schemas.microsoft.com/office/drawing/2014/main" id="{DBD14BA4-21F6-2BAF-651D-202ED192ED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94238" y="0"/>
              <a:ext cx="1229271" cy="86939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ZoneTexte 2">
            <a:extLst>
              <a:ext uri="{FF2B5EF4-FFF2-40B4-BE49-F238E27FC236}">
                <a16:creationId xmlns:a16="http://schemas.microsoft.com/office/drawing/2014/main" id="{84A87683-5AA2-5260-3136-80CD35802DCC}"/>
              </a:ext>
            </a:extLst>
          </p:cNvPr>
          <p:cNvSpPr txBox="1"/>
          <p:nvPr/>
        </p:nvSpPr>
        <p:spPr>
          <a:xfrm>
            <a:off x="641684" y="1120949"/>
            <a:ext cx="8385691" cy="23083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endParaRPr lang="fr-FR" dirty="0">
              <a:solidFill>
                <a:srgbClr val="0070C0"/>
              </a:solidFill>
            </a:endParaRPr>
          </a:p>
          <a:p>
            <a:r>
              <a:rPr lang="fr-FR" b="1" u="sng" dirty="0">
                <a:solidFill>
                  <a:srgbClr val="0070C0"/>
                </a:solidFill>
              </a:rPr>
              <a:t>Exemples de réalisations</a:t>
            </a:r>
          </a:p>
          <a:p>
            <a:r>
              <a:rPr lang="fr-FR" u="sng" dirty="0">
                <a:solidFill>
                  <a:srgbClr val="0070C0"/>
                </a:solidFill>
              </a:rPr>
              <a:t>Avant / Après</a:t>
            </a:r>
          </a:p>
          <a:p>
            <a:endParaRPr lang="fr-FR" b="1" i="1" u="sng" dirty="0">
              <a:solidFill>
                <a:srgbClr val="FF0000"/>
              </a:solidFill>
            </a:endParaRPr>
          </a:p>
          <a:p>
            <a:endParaRPr lang="fr-FR" b="1" i="1" u="sng" dirty="0">
              <a:solidFill>
                <a:srgbClr val="FF0000"/>
              </a:solidFill>
            </a:endParaRPr>
          </a:p>
          <a:p>
            <a:r>
              <a:rPr lang="fr-FR" b="1" dirty="0">
                <a:solidFill>
                  <a:srgbClr val="FF0000"/>
                </a:solidFill>
              </a:rPr>
              <a:t> </a:t>
            </a:r>
            <a:br>
              <a:rPr lang="fr-FR" b="1" dirty="0">
                <a:solidFill>
                  <a:srgbClr val="0070C0"/>
                </a:solidFill>
              </a:rPr>
            </a:br>
            <a:endParaRPr lang="fr-FR" b="1" dirty="0">
              <a:solidFill>
                <a:srgbClr val="0070C0"/>
              </a:solidFill>
            </a:endParaRPr>
          </a:p>
          <a:p>
            <a:endParaRPr lang="fr-FR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267119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E2C37-A293-0229-BB8E-67AE7DF25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0" name="Groupe 14">
            <a:extLst>
              <a:ext uri="{FF2B5EF4-FFF2-40B4-BE49-F238E27FC236}">
                <a16:creationId xmlns:a16="http://schemas.microsoft.com/office/drawing/2014/main" id="{1E517DED-2118-52FD-06A9-2ADD9371F355}"/>
              </a:ext>
            </a:extLst>
          </p:cNvPr>
          <p:cNvGrpSpPr/>
          <p:nvPr/>
        </p:nvGrpSpPr>
        <p:grpSpPr>
          <a:xfrm>
            <a:off x="82491" y="0"/>
            <a:ext cx="9906000" cy="869392"/>
            <a:chOff x="0" y="0"/>
            <a:chExt cx="9906000" cy="869390"/>
          </a:xfrm>
        </p:grpSpPr>
        <p:grpSp>
          <p:nvGrpSpPr>
            <p:cNvPr id="318" name="Rectangle 15">
              <a:extLst>
                <a:ext uri="{FF2B5EF4-FFF2-40B4-BE49-F238E27FC236}">
                  <a16:creationId xmlns:a16="http://schemas.microsoft.com/office/drawing/2014/main" id="{6F2836CA-FD7E-DE08-3017-257F824F8450}"/>
                </a:ext>
              </a:extLst>
            </p:cNvPr>
            <p:cNvGrpSpPr/>
            <p:nvPr/>
          </p:nvGrpSpPr>
          <p:grpSpPr>
            <a:xfrm>
              <a:off x="0" y="71492"/>
              <a:ext cx="9906000" cy="762003"/>
              <a:chOff x="0" y="-1"/>
              <a:chExt cx="9906000" cy="762001"/>
            </a:xfrm>
          </p:grpSpPr>
          <p:sp>
            <p:nvSpPr>
              <p:cNvPr id="316" name="Rectangle">
                <a:extLst>
                  <a:ext uri="{FF2B5EF4-FFF2-40B4-BE49-F238E27FC236}">
                    <a16:creationId xmlns:a16="http://schemas.microsoft.com/office/drawing/2014/main" id="{DEB1AFCC-FBED-ED40-6A66-AE0882DD8433}"/>
                  </a:ext>
                </a:extLst>
              </p:cNvPr>
              <p:cNvSpPr/>
              <p:nvPr/>
            </p:nvSpPr>
            <p:spPr>
              <a:xfrm>
                <a:off x="0" y="-1"/>
                <a:ext cx="9906000" cy="762001"/>
              </a:xfrm>
              <a:prstGeom prst="rect">
                <a:avLst/>
              </a:prstGeom>
              <a:solidFill>
                <a:srgbClr val="008DD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 b="1">
                    <a:solidFill>
                      <a:srgbClr val="FFFFFF"/>
                    </a:solidFill>
                    <a:latin typeface="Comfortaa"/>
                    <a:ea typeface="Comfortaa"/>
                    <a:cs typeface="Comfortaa"/>
                    <a:sym typeface="Comfortaa"/>
                  </a:defRPr>
                </a:pPr>
                <a:endParaRPr/>
              </a:p>
            </p:txBody>
          </p:sp>
          <p:sp>
            <p:nvSpPr>
              <p:cNvPr id="317" name="Une couverture nationale">
                <a:extLst>
                  <a:ext uri="{FF2B5EF4-FFF2-40B4-BE49-F238E27FC236}">
                    <a16:creationId xmlns:a16="http://schemas.microsoft.com/office/drawing/2014/main" id="{5134A156-CC85-688F-3BA3-C4238FDC3D0E}"/>
                  </a:ext>
                </a:extLst>
              </p:cNvPr>
              <p:cNvSpPr txBox="1"/>
              <p:nvPr/>
            </p:nvSpPr>
            <p:spPr>
              <a:xfrm>
                <a:off x="0" y="88615"/>
                <a:ext cx="9906000" cy="5847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>
                  <a:defRPr sz="3200" b="1">
                    <a:solidFill>
                      <a:srgbClr val="FFFFFF"/>
                    </a:solidFill>
                    <a:latin typeface="Comfortaa"/>
                    <a:ea typeface="Comfortaa"/>
                    <a:cs typeface="Comfortaa"/>
                    <a:sym typeface="Comfortaa"/>
                  </a:defRPr>
                </a:lvl1pPr>
              </a:lstStyle>
              <a:p>
                <a:endParaRPr dirty="0"/>
              </a:p>
            </p:txBody>
          </p:sp>
        </p:grpSp>
        <p:pic>
          <p:nvPicPr>
            <p:cNvPr id="319" name="Image 16" descr="Image 16">
              <a:extLst>
                <a:ext uri="{FF2B5EF4-FFF2-40B4-BE49-F238E27FC236}">
                  <a16:creationId xmlns:a16="http://schemas.microsoft.com/office/drawing/2014/main" id="{C6DFA273-B67F-F847-B53C-E605071D3A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94238" y="0"/>
              <a:ext cx="1229271" cy="86939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" name="ZoneTexte 1">
            <a:extLst>
              <a:ext uri="{FF2B5EF4-FFF2-40B4-BE49-F238E27FC236}">
                <a16:creationId xmlns:a16="http://schemas.microsoft.com/office/drawing/2014/main" id="{550DA2D3-4EAE-D52D-0167-5B2CD11C3651}"/>
              </a:ext>
            </a:extLst>
          </p:cNvPr>
          <p:cNvSpPr txBox="1"/>
          <p:nvPr/>
        </p:nvSpPr>
        <p:spPr>
          <a:xfrm>
            <a:off x="551722" y="1238870"/>
            <a:ext cx="8265695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fr-FR" u="sng" dirty="0">
                <a:solidFill>
                  <a:srgbClr val="0070C0"/>
                </a:solidFill>
              </a:rPr>
              <a:t>Témoignages clients</a:t>
            </a:r>
            <a:endParaRPr lang="fr-FR" b="1" u="sng" dirty="0">
              <a:solidFill>
                <a:srgbClr val="0070C0"/>
              </a:solidFill>
            </a:endParaRPr>
          </a:p>
        </p:txBody>
      </p:sp>
      <p:pic>
        <p:nvPicPr>
          <p:cNvPr id="4" name="Image 3" descr="Une image contenant texte, capture d’écran, Site web, Publicité en ligne&#10;&#10;Le contenu généré par l’IA peut être incorrect.">
            <a:extLst>
              <a:ext uri="{FF2B5EF4-FFF2-40B4-BE49-F238E27FC236}">
                <a16:creationId xmlns:a16="http://schemas.microsoft.com/office/drawing/2014/main" id="{E345ECB2-CB36-1DD9-89CC-C316A5B16A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329" y="1812063"/>
            <a:ext cx="7772400" cy="4066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010693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30C1E-058E-E423-4321-88C88ACDB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0" name="Groupe 14">
            <a:extLst>
              <a:ext uri="{FF2B5EF4-FFF2-40B4-BE49-F238E27FC236}">
                <a16:creationId xmlns:a16="http://schemas.microsoft.com/office/drawing/2014/main" id="{78B9AC80-128C-7153-860E-D69646DA266A}"/>
              </a:ext>
            </a:extLst>
          </p:cNvPr>
          <p:cNvGrpSpPr/>
          <p:nvPr/>
        </p:nvGrpSpPr>
        <p:grpSpPr>
          <a:xfrm>
            <a:off x="0" y="-71495"/>
            <a:ext cx="9906000" cy="869392"/>
            <a:chOff x="0" y="0"/>
            <a:chExt cx="9906000" cy="869390"/>
          </a:xfrm>
        </p:grpSpPr>
        <p:grpSp>
          <p:nvGrpSpPr>
            <p:cNvPr id="318" name="Rectangle 15">
              <a:extLst>
                <a:ext uri="{FF2B5EF4-FFF2-40B4-BE49-F238E27FC236}">
                  <a16:creationId xmlns:a16="http://schemas.microsoft.com/office/drawing/2014/main" id="{A5081278-5CD5-8F90-4018-142D1E10001E}"/>
                </a:ext>
              </a:extLst>
            </p:cNvPr>
            <p:cNvGrpSpPr/>
            <p:nvPr/>
          </p:nvGrpSpPr>
          <p:grpSpPr>
            <a:xfrm>
              <a:off x="0" y="71492"/>
              <a:ext cx="9906000" cy="762003"/>
              <a:chOff x="0" y="-1"/>
              <a:chExt cx="9906000" cy="762001"/>
            </a:xfrm>
          </p:grpSpPr>
          <p:sp>
            <p:nvSpPr>
              <p:cNvPr id="316" name="Rectangle">
                <a:extLst>
                  <a:ext uri="{FF2B5EF4-FFF2-40B4-BE49-F238E27FC236}">
                    <a16:creationId xmlns:a16="http://schemas.microsoft.com/office/drawing/2014/main" id="{6252CAE0-A647-06C3-0F26-075D07632A9E}"/>
                  </a:ext>
                </a:extLst>
              </p:cNvPr>
              <p:cNvSpPr/>
              <p:nvPr/>
            </p:nvSpPr>
            <p:spPr>
              <a:xfrm>
                <a:off x="0" y="-1"/>
                <a:ext cx="9906000" cy="762001"/>
              </a:xfrm>
              <a:prstGeom prst="rect">
                <a:avLst/>
              </a:prstGeom>
              <a:solidFill>
                <a:srgbClr val="008DD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 b="1">
                    <a:solidFill>
                      <a:srgbClr val="FFFFFF"/>
                    </a:solidFill>
                    <a:latin typeface="Comfortaa"/>
                    <a:ea typeface="Comfortaa"/>
                    <a:cs typeface="Comfortaa"/>
                    <a:sym typeface="Comfortaa"/>
                  </a:defRPr>
                </a:pPr>
                <a:endParaRPr/>
              </a:p>
            </p:txBody>
          </p:sp>
          <p:sp>
            <p:nvSpPr>
              <p:cNvPr id="317" name="Une couverture nationale">
                <a:extLst>
                  <a:ext uri="{FF2B5EF4-FFF2-40B4-BE49-F238E27FC236}">
                    <a16:creationId xmlns:a16="http://schemas.microsoft.com/office/drawing/2014/main" id="{9FCDB3E4-5686-8DC6-951D-B2049678C95E}"/>
                  </a:ext>
                </a:extLst>
              </p:cNvPr>
              <p:cNvSpPr txBox="1"/>
              <p:nvPr/>
            </p:nvSpPr>
            <p:spPr>
              <a:xfrm>
                <a:off x="0" y="88615"/>
                <a:ext cx="9906000" cy="5847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>
                  <a:defRPr sz="3200" b="1">
                    <a:solidFill>
                      <a:srgbClr val="FFFFFF"/>
                    </a:solidFill>
                    <a:latin typeface="Comfortaa"/>
                    <a:ea typeface="Comfortaa"/>
                    <a:cs typeface="Comfortaa"/>
                    <a:sym typeface="Comfortaa"/>
                  </a:defRPr>
                </a:lvl1pPr>
              </a:lstStyle>
              <a:p>
                <a:endParaRPr dirty="0"/>
              </a:p>
            </p:txBody>
          </p:sp>
        </p:grpSp>
        <p:pic>
          <p:nvPicPr>
            <p:cNvPr id="319" name="Image 16" descr="Image 16">
              <a:extLst>
                <a:ext uri="{FF2B5EF4-FFF2-40B4-BE49-F238E27FC236}">
                  <a16:creationId xmlns:a16="http://schemas.microsoft.com/office/drawing/2014/main" id="{DDD6D428-B91D-73AE-A635-74AFB5D68B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94238" y="0"/>
              <a:ext cx="1229271" cy="86939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4" name="Image 3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259695C2-A233-2EEA-8658-F2948EB944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037" y="874681"/>
            <a:ext cx="5128795" cy="3793572"/>
          </a:xfrm>
          <a:prstGeom prst="rect">
            <a:avLst/>
          </a:prstGeom>
        </p:spPr>
      </p:pic>
      <p:pic>
        <p:nvPicPr>
          <p:cNvPr id="6" name="Image 5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5135E49D-AF9B-3465-B487-DE75464601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00094"/>
            <a:ext cx="6210300" cy="28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391542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683DD-BF32-A5AC-E780-788321E32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0" name="Groupe 14">
            <a:extLst>
              <a:ext uri="{FF2B5EF4-FFF2-40B4-BE49-F238E27FC236}">
                <a16:creationId xmlns:a16="http://schemas.microsoft.com/office/drawing/2014/main" id="{E365AB36-9490-8622-7583-3EAF98E54E1A}"/>
              </a:ext>
            </a:extLst>
          </p:cNvPr>
          <p:cNvGrpSpPr/>
          <p:nvPr/>
        </p:nvGrpSpPr>
        <p:grpSpPr>
          <a:xfrm>
            <a:off x="103626" y="0"/>
            <a:ext cx="9906000" cy="869392"/>
            <a:chOff x="0" y="0"/>
            <a:chExt cx="9906000" cy="869390"/>
          </a:xfrm>
        </p:grpSpPr>
        <p:grpSp>
          <p:nvGrpSpPr>
            <p:cNvPr id="318" name="Rectangle 15">
              <a:extLst>
                <a:ext uri="{FF2B5EF4-FFF2-40B4-BE49-F238E27FC236}">
                  <a16:creationId xmlns:a16="http://schemas.microsoft.com/office/drawing/2014/main" id="{07D6DB07-B5E7-8D1A-006F-F4F3B92DA6B8}"/>
                </a:ext>
              </a:extLst>
            </p:cNvPr>
            <p:cNvGrpSpPr/>
            <p:nvPr/>
          </p:nvGrpSpPr>
          <p:grpSpPr>
            <a:xfrm>
              <a:off x="0" y="71492"/>
              <a:ext cx="9906000" cy="762003"/>
              <a:chOff x="0" y="-1"/>
              <a:chExt cx="9906000" cy="762001"/>
            </a:xfrm>
          </p:grpSpPr>
          <p:sp>
            <p:nvSpPr>
              <p:cNvPr id="316" name="Rectangle">
                <a:extLst>
                  <a:ext uri="{FF2B5EF4-FFF2-40B4-BE49-F238E27FC236}">
                    <a16:creationId xmlns:a16="http://schemas.microsoft.com/office/drawing/2014/main" id="{AD9E68D6-522A-E507-9800-2DF621B338A9}"/>
                  </a:ext>
                </a:extLst>
              </p:cNvPr>
              <p:cNvSpPr/>
              <p:nvPr/>
            </p:nvSpPr>
            <p:spPr>
              <a:xfrm>
                <a:off x="0" y="-1"/>
                <a:ext cx="9906000" cy="762001"/>
              </a:xfrm>
              <a:prstGeom prst="rect">
                <a:avLst/>
              </a:prstGeom>
              <a:solidFill>
                <a:srgbClr val="008DD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 b="1">
                    <a:solidFill>
                      <a:srgbClr val="FFFFFF"/>
                    </a:solidFill>
                    <a:latin typeface="Comfortaa"/>
                    <a:ea typeface="Comfortaa"/>
                    <a:cs typeface="Comfortaa"/>
                    <a:sym typeface="Comfortaa"/>
                  </a:defRPr>
                </a:pPr>
                <a:endParaRPr/>
              </a:p>
            </p:txBody>
          </p:sp>
          <p:sp>
            <p:nvSpPr>
              <p:cNvPr id="317" name="Une couverture nationale">
                <a:extLst>
                  <a:ext uri="{FF2B5EF4-FFF2-40B4-BE49-F238E27FC236}">
                    <a16:creationId xmlns:a16="http://schemas.microsoft.com/office/drawing/2014/main" id="{097F721C-DE9B-CF53-5A16-589D82AD4DE7}"/>
                  </a:ext>
                </a:extLst>
              </p:cNvPr>
              <p:cNvSpPr txBox="1"/>
              <p:nvPr/>
            </p:nvSpPr>
            <p:spPr>
              <a:xfrm>
                <a:off x="0" y="88615"/>
                <a:ext cx="9906000" cy="5847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>
                  <a:defRPr sz="3200" b="1">
                    <a:solidFill>
                      <a:srgbClr val="FFFFFF"/>
                    </a:solidFill>
                    <a:latin typeface="Comfortaa"/>
                    <a:ea typeface="Comfortaa"/>
                    <a:cs typeface="Comfortaa"/>
                    <a:sym typeface="Comfortaa"/>
                  </a:defRPr>
                </a:lvl1pPr>
              </a:lstStyle>
              <a:p>
                <a:endParaRPr dirty="0"/>
              </a:p>
            </p:txBody>
          </p:sp>
        </p:grpSp>
        <p:pic>
          <p:nvPicPr>
            <p:cNvPr id="319" name="Image 16" descr="Image 16">
              <a:extLst>
                <a:ext uri="{FF2B5EF4-FFF2-40B4-BE49-F238E27FC236}">
                  <a16:creationId xmlns:a16="http://schemas.microsoft.com/office/drawing/2014/main" id="{83AC3A06-87A6-BDA7-5127-8B06CAC1BA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94238" y="0"/>
              <a:ext cx="1229271" cy="86939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" name="ZoneTexte 1">
            <a:extLst>
              <a:ext uri="{FF2B5EF4-FFF2-40B4-BE49-F238E27FC236}">
                <a16:creationId xmlns:a16="http://schemas.microsoft.com/office/drawing/2014/main" id="{CD9F2E08-C9A4-DC2A-1CF0-ABEDC47B0CF7}"/>
              </a:ext>
            </a:extLst>
          </p:cNvPr>
          <p:cNvSpPr txBox="1"/>
          <p:nvPr/>
        </p:nvSpPr>
        <p:spPr>
          <a:xfrm>
            <a:off x="103626" y="596077"/>
            <a:ext cx="9437416" cy="67403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br>
              <a:rPr lang="fr-FR" b="1" dirty="0">
                <a:solidFill>
                  <a:srgbClr val="0070C0"/>
                </a:solidFill>
              </a:rPr>
            </a:br>
            <a:r>
              <a:rPr lang="fr-FR" b="1" u="sng" dirty="0">
                <a:solidFill>
                  <a:srgbClr val="0070C0"/>
                </a:solidFill>
              </a:rPr>
              <a:t>Comment ça se passe ?</a:t>
            </a:r>
          </a:p>
          <a:p>
            <a:endParaRPr lang="fr-FR" b="1" u="sng" dirty="0">
              <a:solidFill>
                <a:srgbClr val="0070C0"/>
              </a:solidFill>
            </a:endParaRPr>
          </a:p>
          <a:p>
            <a:r>
              <a:rPr lang="fr-FR" dirty="0">
                <a:solidFill>
                  <a:srgbClr val="0070C0"/>
                </a:solidFill>
              </a:rPr>
              <a:t>Pour toute demande de </a:t>
            </a:r>
            <a:r>
              <a:rPr lang="fr-FR" b="1" dirty="0">
                <a:solidFill>
                  <a:srgbClr val="0070C0"/>
                </a:solidFill>
              </a:rPr>
              <a:t>devis</a:t>
            </a:r>
            <a:r>
              <a:rPr lang="fr-FR" dirty="0">
                <a:solidFill>
                  <a:srgbClr val="0070C0"/>
                </a:solidFill>
              </a:rPr>
              <a:t> ou </a:t>
            </a:r>
            <a:r>
              <a:rPr lang="fr-FR" b="1" dirty="0">
                <a:solidFill>
                  <a:srgbClr val="0070C0"/>
                </a:solidFill>
              </a:rPr>
              <a:t>intervention</a:t>
            </a:r>
            <a:r>
              <a:rPr lang="fr-FR" dirty="0">
                <a:solidFill>
                  <a:srgbClr val="0070C0"/>
                </a:solidFill>
              </a:rPr>
              <a:t>, c’est simple 👇</a:t>
            </a:r>
          </a:p>
          <a:p>
            <a:r>
              <a:rPr lang="fr-FR" b="1" dirty="0">
                <a:solidFill>
                  <a:srgbClr val="0070C0"/>
                </a:solidFill>
              </a:rPr>
              <a:t>1️⃣ Envoyez-nous votre demande</a:t>
            </a:r>
          </a:p>
          <a:p>
            <a:r>
              <a:rPr lang="fr-FR" dirty="0">
                <a:solidFill>
                  <a:srgbClr val="0070C0"/>
                </a:solidFill>
              </a:rPr>
              <a:t>Par email à : </a:t>
            </a:r>
            <a:r>
              <a:rPr lang="fr-FR" b="1" dirty="0">
                <a:solidFill>
                  <a:srgbClr val="0070C0"/>
                </a:solidFill>
              </a:rPr>
              <a:t>📩 </a:t>
            </a:r>
            <a:r>
              <a:rPr lang="fr-FR" b="1" dirty="0">
                <a:solidFill>
                  <a:srgbClr val="0070C0"/>
                </a:solidFill>
                <a:hlinkClick r:id="rId3"/>
              </a:rPr>
              <a:t>dax@helpconfort.com</a:t>
            </a:r>
            <a:endParaRPr lang="fr-FR" b="1" dirty="0">
              <a:solidFill>
                <a:srgbClr val="0070C0"/>
              </a:solidFill>
            </a:endParaRPr>
          </a:p>
          <a:p>
            <a:br>
              <a:rPr lang="fr-FR" dirty="0">
                <a:solidFill>
                  <a:srgbClr val="0070C0"/>
                </a:solidFill>
              </a:rPr>
            </a:br>
            <a:r>
              <a:rPr lang="fr-FR" dirty="0">
                <a:solidFill>
                  <a:srgbClr val="0070C0"/>
                </a:solidFill>
              </a:rPr>
              <a:t>➡️ Joignez </a:t>
            </a:r>
            <a:r>
              <a:rPr lang="fr-FR" b="1" dirty="0">
                <a:solidFill>
                  <a:srgbClr val="0070C0"/>
                </a:solidFill>
              </a:rPr>
              <a:t>un bon d’intervention</a:t>
            </a:r>
            <a:r>
              <a:rPr lang="fr-FR" dirty="0">
                <a:solidFill>
                  <a:srgbClr val="0070C0"/>
                </a:solidFill>
              </a:rPr>
              <a:t>, les </a:t>
            </a:r>
            <a:r>
              <a:rPr lang="fr-FR" b="1" dirty="0">
                <a:solidFill>
                  <a:srgbClr val="0070C0"/>
                </a:solidFill>
              </a:rPr>
              <a:t>coordonnées complètes du locataire</a:t>
            </a:r>
            <a:br>
              <a:rPr lang="fr-FR" dirty="0">
                <a:solidFill>
                  <a:srgbClr val="0070C0"/>
                </a:solidFill>
              </a:rPr>
            </a:br>
            <a:r>
              <a:rPr lang="fr-FR" dirty="0">
                <a:solidFill>
                  <a:srgbClr val="0070C0"/>
                </a:solidFill>
              </a:rPr>
              <a:t>et les </a:t>
            </a:r>
            <a:r>
              <a:rPr lang="fr-FR" b="1" dirty="0">
                <a:solidFill>
                  <a:srgbClr val="0070C0"/>
                </a:solidFill>
              </a:rPr>
              <a:t>éléments nécessaires à l’étude du devis</a:t>
            </a:r>
            <a:r>
              <a:rPr lang="fr-FR" dirty="0">
                <a:solidFill>
                  <a:srgbClr val="0070C0"/>
                </a:solidFill>
              </a:rPr>
              <a:t> ( description, urgence…)</a:t>
            </a:r>
          </a:p>
          <a:p>
            <a:endParaRPr lang="fr-FR" dirty="0">
              <a:solidFill>
                <a:srgbClr val="0070C0"/>
              </a:solidFill>
            </a:endParaRPr>
          </a:p>
          <a:p>
            <a:r>
              <a:rPr lang="fr-FR" b="1" dirty="0">
                <a:solidFill>
                  <a:srgbClr val="0070C0"/>
                </a:solidFill>
              </a:rPr>
              <a:t>2️⃣ Analyse &amp; affectation</a:t>
            </a:r>
          </a:p>
          <a:p>
            <a:r>
              <a:rPr lang="fr-FR" dirty="0">
                <a:solidFill>
                  <a:srgbClr val="0070C0"/>
                </a:solidFill>
              </a:rPr>
              <a:t>Chaque demande est étudiée avec attention et confiée au </a:t>
            </a:r>
            <a:r>
              <a:rPr lang="fr-FR" b="1" dirty="0">
                <a:solidFill>
                  <a:srgbClr val="0070C0"/>
                </a:solidFill>
              </a:rPr>
              <a:t>technicien spécialisé</a:t>
            </a:r>
            <a:r>
              <a:rPr lang="fr-FR" dirty="0">
                <a:solidFill>
                  <a:srgbClr val="0070C0"/>
                </a:solidFill>
              </a:rPr>
              <a:t> dans le corps de métier concerné.</a:t>
            </a:r>
          </a:p>
          <a:p>
            <a:endParaRPr lang="fr-FR" dirty="0">
              <a:solidFill>
                <a:srgbClr val="0070C0"/>
              </a:solidFill>
            </a:endParaRPr>
          </a:p>
          <a:p>
            <a:r>
              <a:rPr lang="fr-FR" b="1" dirty="0">
                <a:solidFill>
                  <a:srgbClr val="0070C0"/>
                </a:solidFill>
              </a:rPr>
              <a:t>3️⃣ Transparence &amp; professionnalisme</a:t>
            </a:r>
          </a:p>
          <a:p>
            <a:r>
              <a:rPr lang="fr-FR" dirty="0">
                <a:solidFill>
                  <a:srgbClr val="0070C0"/>
                </a:solidFill>
              </a:rPr>
              <a:t>Si un besoin ne relève pas de nos compétences,</a:t>
            </a:r>
            <a:br>
              <a:rPr lang="fr-FR" dirty="0">
                <a:solidFill>
                  <a:srgbClr val="0070C0"/>
                </a:solidFill>
              </a:rPr>
            </a:br>
            <a:r>
              <a:rPr lang="fr-FR" b="1" dirty="0">
                <a:solidFill>
                  <a:srgbClr val="0070C0"/>
                </a:solidFill>
              </a:rPr>
              <a:t>nous vous en informons immédiatement</a:t>
            </a:r>
            <a:r>
              <a:rPr lang="fr-FR" dirty="0">
                <a:solidFill>
                  <a:srgbClr val="0070C0"/>
                </a:solidFill>
              </a:rPr>
              <a:t>, sans perdre de temps</a:t>
            </a:r>
          </a:p>
          <a:p>
            <a:r>
              <a:rPr lang="fr-FR" dirty="0">
                <a:solidFill>
                  <a:srgbClr val="0070C0"/>
                </a:solidFill>
              </a:rPr>
              <a:t>.</a:t>
            </a:r>
          </a:p>
          <a:p>
            <a:r>
              <a:rPr lang="fr-FR" b="1" dirty="0">
                <a:solidFill>
                  <a:srgbClr val="0070C0"/>
                </a:solidFill>
              </a:rPr>
              <a:t>4️⃣ Avancer ensemble</a:t>
            </a:r>
          </a:p>
          <a:p>
            <a:r>
              <a:rPr lang="fr-FR" dirty="0">
                <a:solidFill>
                  <a:srgbClr val="0070C0"/>
                </a:solidFill>
              </a:rPr>
              <a:t>Nous croyons en une </a:t>
            </a:r>
            <a:r>
              <a:rPr lang="fr-FR" b="1" dirty="0">
                <a:solidFill>
                  <a:srgbClr val="0070C0"/>
                </a:solidFill>
              </a:rPr>
              <a:t>collaboration fluide</a:t>
            </a:r>
            <a:r>
              <a:rPr lang="fr-FR" dirty="0">
                <a:solidFill>
                  <a:srgbClr val="0070C0"/>
                </a:solidFill>
              </a:rPr>
              <a:t>, basée sur la confiance, la réactivité et la transparence.</a:t>
            </a:r>
          </a:p>
          <a:p>
            <a:r>
              <a:rPr lang="fr-FR" dirty="0">
                <a:solidFill>
                  <a:srgbClr val="0070C0"/>
                </a:solidFill>
              </a:rPr>
              <a:t>	✨ </a:t>
            </a:r>
            <a:r>
              <a:rPr lang="fr-FR" b="1" dirty="0">
                <a:solidFill>
                  <a:srgbClr val="0070C0"/>
                </a:solidFill>
              </a:rPr>
              <a:t>Notre objectif : vous accompagner efficacement et durablement.</a:t>
            </a:r>
            <a:endParaRPr lang="fr-FR" dirty="0">
              <a:solidFill>
                <a:srgbClr val="0070C0"/>
              </a:solidFill>
            </a:endParaRPr>
          </a:p>
          <a:p>
            <a:endParaRPr lang="fr-FR" b="1" u="sng" dirty="0">
              <a:solidFill>
                <a:srgbClr val="0070C0"/>
              </a:solidFill>
            </a:endParaRPr>
          </a:p>
          <a:p>
            <a:pPr marL="285750" indent="-285750">
              <a:buFontTx/>
              <a:buChar char="-"/>
            </a:pP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89A591C-4E2E-63F4-A44B-80565E072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846904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45820-2E0E-8492-A030-8922E365E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0" name="Groupe 14">
            <a:extLst>
              <a:ext uri="{FF2B5EF4-FFF2-40B4-BE49-F238E27FC236}">
                <a16:creationId xmlns:a16="http://schemas.microsoft.com/office/drawing/2014/main" id="{3D9AE45A-4262-4E06-80DD-51417D395F8F}"/>
              </a:ext>
            </a:extLst>
          </p:cNvPr>
          <p:cNvGrpSpPr/>
          <p:nvPr/>
        </p:nvGrpSpPr>
        <p:grpSpPr>
          <a:xfrm>
            <a:off x="0" y="148855"/>
            <a:ext cx="9988491" cy="869392"/>
            <a:chOff x="0" y="0"/>
            <a:chExt cx="9988491" cy="869390"/>
          </a:xfrm>
        </p:grpSpPr>
        <p:grpSp>
          <p:nvGrpSpPr>
            <p:cNvPr id="318" name="Rectangle 15">
              <a:extLst>
                <a:ext uri="{FF2B5EF4-FFF2-40B4-BE49-F238E27FC236}">
                  <a16:creationId xmlns:a16="http://schemas.microsoft.com/office/drawing/2014/main" id="{7932A5DF-FCA1-9817-B717-DFACE7F96ADC}"/>
                </a:ext>
              </a:extLst>
            </p:cNvPr>
            <p:cNvGrpSpPr/>
            <p:nvPr/>
          </p:nvGrpSpPr>
          <p:grpSpPr>
            <a:xfrm>
              <a:off x="0" y="71492"/>
              <a:ext cx="9988491" cy="762003"/>
              <a:chOff x="0" y="-1"/>
              <a:chExt cx="9988491" cy="762001"/>
            </a:xfrm>
          </p:grpSpPr>
          <p:sp>
            <p:nvSpPr>
              <p:cNvPr id="316" name="Rectangle">
                <a:extLst>
                  <a:ext uri="{FF2B5EF4-FFF2-40B4-BE49-F238E27FC236}">
                    <a16:creationId xmlns:a16="http://schemas.microsoft.com/office/drawing/2014/main" id="{54200AAC-271B-0295-3A60-053A6EF856E6}"/>
                  </a:ext>
                </a:extLst>
              </p:cNvPr>
              <p:cNvSpPr/>
              <p:nvPr/>
            </p:nvSpPr>
            <p:spPr>
              <a:xfrm>
                <a:off x="0" y="-1"/>
                <a:ext cx="9906000" cy="762001"/>
              </a:xfrm>
              <a:prstGeom prst="rect">
                <a:avLst/>
              </a:prstGeom>
              <a:solidFill>
                <a:srgbClr val="008DD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 b="1">
                    <a:solidFill>
                      <a:srgbClr val="FFFFFF"/>
                    </a:solidFill>
                    <a:latin typeface="Comfortaa"/>
                    <a:ea typeface="Comfortaa"/>
                    <a:cs typeface="Comfortaa"/>
                    <a:sym typeface="Comfortaa"/>
                  </a:defRPr>
                </a:pPr>
                <a:endParaRPr/>
              </a:p>
            </p:txBody>
          </p:sp>
          <p:sp>
            <p:nvSpPr>
              <p:cNvPr id="317" name="Une couverture nationale">
                <a:extLst>
                  <a:ext uri="{FF2B5EF4-FFF2-40B4-BE49-F238E27FC236}">
                    <a16:creationId xmlns:a16="http://schemas.microsoft.com/office/drawing/2014/main" id="{0C9F86A5-51E3-6F37-B663-E3894765F685}"/>
                  </a:ext>
                </a:extLst>
              </p:cNvPr>
              <p:cNvSpPr txBox="1"/>
              <p:nvPr/>
            </p:nvSpPr>
            <p:spPr>
              <a:xfrm>
                <a:off x="82491" y="177230"/>
                <a:ext cx="9906000" cy="5847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>
                  <a:defRPr sz="3200" b="1">
                    <a:solidFill>
                      <a:srgbClr val="FFFFFF"/>
                    </a:solidFill>
                    <a:latin typeface="Comfortaa"/>
                    <a:ea typeface="Comfortaa"/>
                    <a:cs typeface="Comfortaa"/>
                    <a:sym typeface="Comfortaa"/>
                  </a:defRPr>
                </a:lvl1pPr>
              </a:lstStyle>
              <a:p>
                <a:r>
                  <a:rPr lang="fr-FR" dirty="0"/>
                  <a:t> QUESTIONS</a:t>
                </a:r>
                <a:endParaRPr dirty="0"/>
              </a:p>
            </p:txBody>
          </p:sp>
        </p:grpSp>
        <p:pic>
          <p:nvPicPr>
            <p:cNvPr id="319" name="Image 16" descr="Image 16">
              <a:extLst>
                <a:ext uri="{FF2B5EF4-FFF2-40B4-BE49-F238E27FC236}">
                  <a16:creationId xmlns:a16="http://schemas.microsoft.com/office/drawing/2014/main" id="{CAE9412F-026A-F54D-4BF3-9F09A8BD95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94238" y="0"/>
              <a:ext cx="1229271" cy="86939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4" name="Image 3" descr="Une image contenant texte, Police, Graphique, étoile&#10;&#10;Le contenu généré par l’IA peut être incorrect.">
            <a:extLst>
              <a:ext uri="{FF2B5EF4-FFF2-40B4-BE49-F238E27FC236}">
                <a16:creationId xmlns:a16="http://schemas.microsoft.com/office/drawing/2014/main" id="{3DC6B428-0224-06EC-D1B8-08FBCF0C6E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223210" y="1159584"/>
            <a:ext cx="6858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857590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71ee885-35c8-4726-a54b-961428229b4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93869FA8E9D2E45933D2F5F5EDFC884" ma:contentTypeVersion="10" ma:contentTypeDescription="Crée un document." ma:contentTypeScope="" ma:versionID="23f59f38376b56b7dbcb27a83955e0e8">
  <xsd:schema xmlns:xsd="http://www.w3.org/2001/XMLSchema" xmlns:xs="http://www.w3.org/2001/XMLSchema" xmlns:p="http://schemas.microsoft.com/office/2006/metadata/properties" xmlns:ns3="d71ee885-35c8-4726-a54b-961428229b45" targetNamespace="http://schemas.microsoft.com/office/2006/metadata/properties" ma:root="true" ma:fieldsID="f523b1cd262c69ab57b6b5ea7d6a7302" ns3:_="">
    <xsd:import namespace="d71ee885-35c8-4726-a54b-961428229b4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1ee885-35c8-4726-a54b-961428229b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598B26C-7CD9-417E-9297-C84DC824928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9E0979F-6B9C-4B85-8FEC-3561B570B501}">
  <ds:schemaRefs>
    <ds:schemaRef ds:uri="http://schemas.microsoft.com/office/2006/metadata/properties"/>
    <ds:schemaRef ds:uri="http://www.w3.org/2000/xmlns/"/>
    <ds:schemaRef ds:uri="d71ee885-35c8-4726-a54b-961428229b45"/>
    <ds:schemaRef ds:uri="http://www.w3.org/2001/XMLSchema-instance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59EA3BD-A1FA-4B84-BAE4-A8D7D699790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d71ee885-35c8-4726-a54b-961428229b45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13148</TotalTime>
  <Words>659</Words>
  <Application>Microsoft Macintosh PowerPoint</Application>
  <PresentationFormat>Format A4 (210 x 297 mm)</PresentationFormat>
  <Paragraphs>127</Paragraphs>
  <Slides>15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15</vt:i4>
      </vt:variant>
    </vt:vector>
  </HeadingPairs>
  <TitlesOfParts>
    <vt:vector size="26" baseType="lpstr">
      <vt:lpstr>American Typewriter</vt:lpstr>
      <vt:lpstr>Aptos</vt:lpstr>
      <vt:lpstr>Aptos Display</vt:lpstr>
      <vt:lpstr>Arial</vt:lpstr>
      <vt:lpstr>Arial Black</vt:lpstr>
      <vt:lpstr>Calibri</vt:lpstr>
      <vt:lpstr>Calibri Light</vt:lpstr>
      <vt:lpstr>Verdana</vt:lpstr>
      <vt:lpstr>Office Theme</vt:lpstr>
      <vt:lpstr>1_Office Theme</vt:lpstr>
      <vt:lpstr>2_Office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Théa LAMIRE</dc:creator>
  <cp:lastModifiedBy>Jerome Ducourneau</cp:lastModifiedBy>
  <cp:revision>72</cp:revision>
  <dcterms:modified xsi:type="dcterms:W3CDTF">2025-11-30T16:57:32Z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0x010100B93869FA8E9D2E45933D2F5F5EDFC884</vt:lpwstr>
  </property>
</Properties>
</file>